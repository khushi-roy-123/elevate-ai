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Times New Roman Bold" charset="1" panose="02020803070505020304"/>
      <p:regular r:id="rId16"/>
    </p:embeddedFont>
    <p:embeddedFont>
      <p:font typeface="Times New Roman" charset="1" panose="020206030504050203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Relationship Id="rId7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Relationship Id="rId7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Relationship Id="rId7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Relationship Id="rId7" Target="../media/image1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9275" r="0" b="-69275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153935" y="2541622"/>
            <a:ext cx="16230600" cy="302552"/>
          </a:xfrm>
          <a:custGeom>
            <a:avLst/>
            <a:gdLst/>
            <a:ahLst/>
            <a:cxnLst/>
            <a:rect r="r" b="b" t="t" l="l"/>
            <a:pathLst>
              <a:path h="302552" w="16230600">
                <a:moveTo>
                  <a:pt x="0" y="0"/>
                </a:moveTo>
                <a:lnTo>
                  <a:pt x="16230600" y="0"/>
                </a:lnTo>
                <a:lnTo>
                  <a:pt x="16230600" y="302553"/>
                </a:lnTo>
                <a:lnTo>
                  <a:pt x="0" y="3025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33298" y="575310"/>
            <a:ext cx="2131571" cy="1004830"/>
            <a:chOff x="0" y="0"/>
            <a:chExt cx="2842095" cy="13397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42133" cy="1339723"/>
            </a:xfrm>
            <a:custGeom>
              <a:avLst/>
              <a:gdLst/>
              <a:ahLst/>
              <a:cxnLst/>
              <a:rect r="r" b="b" t="t" l="l"/>
              <a:pathLst>
                <a:path h="1339723" w="284213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t="0" r="-85" b="-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978664" y="-269129"/>
            <a:ext cx="2475690" cy="2475690"/>
            <a:chOff x="0" y="0"/>
            <a:chExt cx="3300921" cy="33009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300984" cy="3300984"/>
            </a:xfrm>
            <a:custGeom>
              <a:avLst/>
              <a:gdLst/>
              <a:ahLst/>
              <a:cxnLst/>
              <a:rect r="r" b="b" t="t" l="l"/>
              <a:pathLst>
                <a:path h="3300984" w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4173026" y="127635"/>
            <a:ext cx="10395937" cy="2629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69"/>
              </a:lnSpc>
            </a:pPr>
            <a:r>
              <a:rPr lang="en-US" b="true" sz="6998" spc="-25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HACK MATRIX HACKATHON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82435" y="5473075"/>
            <a:ext cx="8686800" cy="794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27272" indent="-309091" lvl="2">
              <a:lnSpc>
                <a:spcPts val="6556"/>
              </a:lnSpc>
              <a:buFont typeface="Arial"/>
              <a:buChar char="⚬"/>
            </a:pPr>
            <a:r>
              <a:rPr lang="en-US" b="true" sz="3799" spc="-156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TITLE : ErrorBuddy  AI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82435" y="6419850"/>
            <a:ext cx="8686800" cy="794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27272" indent="-309091" lvl="2">
              <a:lnSpc>
                <a:spcPts val="6556"/>
              </a:lnSpc>
              <a:buFont typeface="Arial"/>
              <a:buChar char="⚬"/>
            </a:pPr>
            <a:r>
              <a:rPr lang="en-US" b="true" sz="3799" spc="-156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NAME : Elevate AI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33298" y="7564584"/>
            <a:ext cx="12993025" cy="794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27272" indent="-309091" lvl="2">
              <a:lnSpc>
                <a:spcPts val="6556"/>
              </a:lnSpc>
              <a:buFont typeface="Arial"/>
              <a:buChar char="⚬"/>
            </a:pPr>
            <a:r>
              <a:rPr lang="en-US" b="true" sz="3799" spc="-156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MEMBERS : Khushi  Roy •  Maddala Jashwanth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28878" y="2974572"/>
            <a:ext cx="5196885" cy="1341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8"/>
              </a:lnSpc>
            </a:pPr>
            <a:r>
              <a:rPr lang="en-US" sz="3798" spc="-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HM10</a:t>
            </a:r>
          </a:p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8" spc="-30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Code  Error  Explainer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836739" y="401641"/>
            <a:ext cx="7879261" cy="915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8" spc="-414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  STATEMENT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33298" y="2155192"/>
            <a:ext cx="8686800" cy="1280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8"/>
              </a:lnSpc>
            </a:pPr>
            <a:r>
              <a:rPr lang="en-US" sz="3598" spc="-28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:    </a:t>
            </a:r>
            <a:r>
              <a:rPr lang="en-US" sz="3598" spc="-28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Error Messages Are Hard for Beginners</a:t>
            </a:r>
          </a:p>
          <a:p>
            <a:pPr algn="l">
              <a:lnSpc>
                <a:spcPts val="5039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28700" y="1603086"/>
            <a:ext cx="16230600" cy="302552"/>
          </a:xfrm>
          <a:custGeom>
            <a:avLst/>
            <a:gdLst/>
            <a:ahLst/>
            <a:cxnLst/>
            <a:rect r="r" b="b" t="t" l="l"/>
            <a:pathLst>
              <a:path h="302552" w="16230600">
                <a:moveTo>
                  <a:pt x="0" y="0"/>
                </a:moveTo>
                <a:lnTo>
                  <a:pt x="16230600" y="0"/>
                </a:lnTo>
                <a:lnTo>
                  <a:pt x="16230600" y="302552"/>
                </a:lnTo>
                <a:lnTo>
                  <a:pt x="0" y="302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33298" y="575310"/>
            <a:ext cx="2131571" cy="1004830"/>
            <a:chOff x="0" y="0"/>
            <a:chExt cx="2842095" cy="133977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42133" cy="1339723"/>
            </a:xfrm>
            <a:custGeom>
              <a:avLst/>
              <a:gdLst/>
              <a:ahLst/>
              <a:cxnLst/>
              <a:rect r="r" b="b" t="t" l="l"/>
              <a:pathLst>
                <a:path h="1339723" w="284213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t="0" r="-85" b="-3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5978664" y="-269129"/>
            <a:ext cx="2475690" cy="2475690"/>
            <a:chOff x="0" y="0"/>
            <a:chExt cx="3300921" cy="33009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300984" cy="3300984"/>
            </a:xfrm>
            <a:custGeom>
              <a:avLst/>
              <a:gdLst/>
              <a:ahLst/>
              <a:cxnLst/>
              <a:rect r="r" b="b" t="t" l="l"/>
              <a:pathLst>
                <a:path h="3300984" w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776370" y="5241378"/>
            <a:ext cx="5170439" cy="4431805"/>
            <a:chOff x="0" y="0"/>
            <a:chExt cx="8534400" cy="7315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5344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7315200"/>
                  </a:lnTo>
                  <a:lnTo>
                    <a:pt x="0" y="731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692" t="0" r="-7692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33298" y="6231978"/>
            <a:ext cx="7359120" cy="760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3400" indent="-301133" lvl="2">
              <a:lnSpc>
                <a:spcPts val="5532"/>
              </a:lnSpc>
              <a:buFont typeface="Arial"/>
              <a:buChar char="⚬"/>
            </a:pPr>
            <a:r>
              <a:rPr lang="en-US" b="true" sz="3951" spc="-31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Who is affected by this problem 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56234" y="7249362"/>
            <a:ext cx="7040928" cy="1945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5736" indent="-187868" lvl="1">
              <a:lnSpc>
                <a:spcPts val="3737"/>
              </a:lnSpc>
              <a:buAutoNum type="alphaLcPeriod" startAt="1"/>
            </a:pPr>
            <a:r>
              <a:rPr lang="en-US" sz="311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Students learning programming</a:t>
            </a:r>
          </a:p>
          <a:p>
            <a:pPr algn="l" marL="375736" indent="-187868" lvl="1">
              <a:lnSpc>
                <a:spcPts val="3737"/>
              </a:lnSpc>
              <a:buAutoNum type="alphaLcPeriod" startAt="1"/>
            </a:pPr>
            <a:r>
              <a:rPr lang="en-US" sz="311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Beginner developers</a:t>
            </a:r>
          </a:p>
          <a:p>
            <a:pPr algn="l" marL="375736" indent="-187868" lvl="1">
              <a:lnSpc>
                <a:spcPts val="3737"/>
              </a:lnSpc>
              <a:buAutoNum type="alphaLcPeriod" startAt="1"/>
            </a:pPr>
            <a:r>
              <a:rPr lang="en-US" sz="311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Competitive coders</a:t>
            </a:r>
          </a:p>
          <a:p>
            <a:pPr algn="l" marL="375736" indent="-187868" lvl="1">
              <a:lnSpc>
                <a:spcPts val="3737"/>
              </a:lnSpc>
              <a:buAutoNum type="alphaLcPeriod" startAt="1"/>
            </a:pPr>
            <a:r>
              <a:rPr lang="en-US" sz="311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Self-taught programmers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749491" y="2164717"/>
            <a:ext cx="5933018" cy="649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117" indent="-259039" lvl="2">
              <a:lnSpc>
                <a:spcPts val="4759"/>
              </a:lnSpc>
              <a:buFont typeface="Arial"/>
              <a:buChar char="⚬"/>
            </a:pPr>
            <a:r>
              <a:rPr lang="en-US" b="true" sz="3399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Why this problem is important 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33298" y="2912989"/>
            <a:ext cx="10192671" cy="2328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5610" indent="-357805" lvl="1">
              <a:lnSpc>
                <a:spcPts val="4640"/>
              </a:lnSpc>
              <a:buFont typeface="Arial"/>
              <a:buChar char="•"/>
            </a:pPr>
            <a:r>
              <a:rPr lang="en-US" sz="3314" spc="-26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Debugging tools focus on giving answers, not building understanding</a:t>
            </a:r>
          </a:p>
          <a:p>
            <a:pPr algn="l" marL="715610" indent="-357805" lvl="1">
              <a:lnSpc>
                <a:spcPts val="4640"/>
              </a:lnSpc>
              <a:buFont typeface="Arial"/>
              <a:buChar char="•"/>
            </a:pPr>
            <a:r>
              <a:rPr lang="en-US" sz="3314" spc="-26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Beginners rely on solutions without learning the logic</a:t>
            </a:r>
          </a:p>
          <a:p>
            <a:pPr algn="l" marL="715610" indent="-357805" lvl="1">
              <a:lnSpc>
                <a:spcPts val="4640"/>
              </a:lnSpc>
              <a:buFont typeface="Arial"/>
              <a:buChar char="•"/>
            </a:pPr>
            <a:r>
              <a:rPr lang="en-US" sz="3314" spc="-26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Leads to repeated mistakes and weak fundamentals</a:t>
            </a:r>
          </a:p>
          <a:p>
            <a:pPr algn="l" marL="715610" indent="-357805" lvl="1">
              <a:lnSpc>
                <a:spcPts val="4640"/>
              </a:lnSpc>
              <a:buFont typeface="Arial"/>
              <a:buChar char="•"/>
            </a:pPr>
            <a:r>
              <a:rPr lang="en-US" sz="3314" spc="-26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Increases dependency on external help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339262" y="2901295"/>
            <a:ext cx="8287832" cy="2167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64214" indent="-332107" lvl="1">
              <a:lnSpc>
                <a:spcPts val="4307"/>
              </a:lnSpc>
              <a:buFont typeface="Arial"/>
              <a:buChar char="•"/>
            </a:pPr>
            <a:r>
              <a:rPr lang="en-US" sz="3076" spc="-24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Slows down the learning curve</a:t>
            </a:r>
          </a:p>
          <a:p>
            <a:pPr algn="just" marL="664214" indent="-332107" lvl="1">
              <a:lnSpc>
                <a:spcPts val="4307"/>
              </a:lnSpc>
              <a:buFont typeface="Arial"/>
              <a:buChar char="•"/>
            </a:pPr>
            <a:r>
              <a:rPr lang="en-US" sz="3076" spc="-24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Lowers confidence and motivation</a:t>
            </a:r>
          </a:p>
          <a:p>
            <a:pPr algn="just" marL="664214" indent="-332107" lvl="1">
              <a:lnSpc>
                <a:spcPts val="4307"/>
              </a:lnSpc>
              <a:buFont typeface="Arial"/>
              <a:buChar char="•"/>
            </a:pPr>
            <a:r>
              <a:rPr lang="en-US" sz="3076" spc="-24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Encourages trial-and-error coding</a:t>
            </a:r>
          </a:p>
          <a:p>
            <a:pPr algn="just" marL="664214" indent="-332107" lvl="1">
              <a:lnSpc>
                <a:spcPts val="4307"/>
              </a:lnSpc>
              <a:buFont typeface="Arial"/>
              <a:buChar char="•"/>
            </a:pPr>
            <a:r>
              <a:rPr lang="en-US" sz="3076" spc="-24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Reduces overall coding efficiency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369708" y="401641"/>
            <a:ext cx="10298058" cy="88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8"/>
              </a:lnSpc>
            </a:pPr>
            <a:r>
              <a:rPr lang="en-US" b="true" sz="4999" spc="-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EXISTING  SOLUTIONS  AND  GAPS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6308" y="2074161"/>
            <a:ext cx="8686800" cy="3706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8"/>
              </a:lnSpc>
            </a:pPr>
            <a:r>
              <a:rPr lang="en-US" sz="3998" spc="-31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tools:</a:t>
            </a:r>
          </a:p>
          <a:p>
            <a:pPr algn="l" marL="1467688" indent="-489229" lvl="2">
              <a:lnSpc>
                <a:spcPts val="4758"/>
              </a:lnSpc>
              <a:buFont typeface="Arial"/>
              <a:buChar char="⚬"/>
            </a:pPr>
            <a:r>
              <a:rPr lang="en-US" sz="3399" spc="-26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 Overflow</a:t>
            </a:r>
          </a:p>
          <a:p>
            <a:pPr algn="l" marL="1467688" indent="-489229" lvl="2">
              <a:lnSpc>
                <a:spcPts val="4758"/>
              </a:lnSpc>
              <a:buFont typeface="Arial"/>
              <a:buChar char="⚬"/>
            </a:pPr>
            <a:r>
              <a:rPr lang="en-US" sz="3399" spc="-26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ChatGPT</a:t>
            </a:r>
          </a:p>
          <a:p>
            <a:pPr algn="l" marL="1467688" indent="-489229" lvl="2">
              <a:lnSpc>
                <a:spcPts val="4758"/>
              </a:lnSpc>
              <a:buFont typeface="Arial"/>
              <a:buChar char="⚬"/>
            </a:pPr>
            <a:r>
              <a:rPr lang="en-US" sz="3399" spc="-26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compiler docs</a:t>
            </a:r>
          </a:p>
          <a:p>
            <a:pPr algn="l">
              <a:lnSpc>
                <a:spcPts val="4759"/>
              </a:lnSpc>
            </a:pPr>
            <a:r>
              <a:rPr lang="en-US" sz="3399" spc="-27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give generic answers with no visual intuition or beginner-friendly fixes.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024085" y="2337475"/>
            <a:ext cx="8686800" cy="190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8"/>
              </a:lnSpc>
            </a:pPr>
            <a:r>
              <a:rPr lang="en-US" sz="3998" spc="-31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Limitations:</a:t>
            </a:r>
          </a:p>
          <a:p>
            <a:pPr algn="l">
              <a:lnSpc>
                <a:spcPts val="4759"/>
              </a:lnSpc>
            </a:pPr>
            <a:r>
              <a:rPr lang="en-US" sz="3399" spc="-27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auto-corrected code, no live simulations, context-free responses  students still spend hours stuck on one error.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65677" y="4943116"/>
            <a:ext cx="8686800" cy="660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8"/>
              </a:lnSpc>
            </a:pPr>
            <a:r>
              <a:rPr lang="en-US" sz="3399" spc="-26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Gap Error Buddy  Fill :</a:t>
            </a:r>
          </a:p>
          <a:p>
            <a:pPr algn="l" marL="733844" indent="-366922" lvl="1">
              <a:lnSpc>
                <a:spcPts val="4758"/>
              </a:lnSpc>
              <a:buFont typeface="Arial"/>
              <a:buChar char="•"/>
            </a:pPr>
            <a:r>
              <a:rPr lang="en-US" sz="3399" spc="-26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system understands a user’s thinking process during coding</a:t>
            </a:r>
          </a:p>
          <a:p>
            <a:pPr algn="l" marL="733844" indent="-366922" lvl="1">
              <a:lnSpc>
                <a:spcPts val="4758"/>
              </a:lnSpc>
              <a:buFont typeface="Arial"/>
              <a:buChar char="•"/>
            </a:pPr>
            <a:r>
              <a:rPr lang="en-US" sz="3399" spc="-26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Lack of tools to track mistakes over time</a:t>
            </a:r>
          </a:p>
          <a:p>
            <a:pPr algn="l" marL="733844" indent="-366922" lvl="1">
              <a:lnSpc>
                <a:spcPts val="4758"/>
              </a:lnSpc>
              <a:buFont typeface="Arial"/>
              <a:buChar char="•"/>
            </a:pPr>
            <a:r>
              <a:rPr lang="en-US" sz="3399" spc="-26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mechanism to prevent repeated errors</a:t>
            </a:r>
          </a:p>
          <a:p>
            <a:pPr algn="l" marL="733844" indent="-366922" lvl="1">
              <a:lnSpc>
                <a:spcPts val="4758"/>
              </a:lnSpc>
              <a:buFont typeface="Arial"/>
              <a:buChar char="•"/>
            </a:pPr>
            <a:r>
              <a:rPr lang="en-US" sz="3399" spc="-26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Helps users understand concepts while coding visullay by graphs</a:t>
            </a:r>
          </a:p>
          <a:p>
            <a:pPr algn="l">
              <a:lnSpc>
                <a:spcPts val="4758"/>
              </a:lnSpc>
            </a:pPr>
          </a:p>
          <a:p>
            <a:pPr algn="l">
              <a:lnSpc>
                <a:spcPts val="4758"/>
              </a:lnSpc>
            </a:pPr>
          </a:p>
          <a:p>
            <a:pPr algn="l">
              <a:lnSpc>
                <a:spcPts val="4758"/>
              </a:lnSpc>
            </a:pPr>
          </a:p>
          <a:p>
            <a:pPr algn="l">
              <a:lnSpc>
                <a:spcPts val="4759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221877" y="1503969"/>
            <a:ext cx="16230600" cy="302552"/>
          </a:xfrm>
          <a:custGeom>
            <a:avLst/>
            <a:gdLst/>
            <a:ahLst/>
            <a:cxnLst/>
            <a:rect r="r" b="b" t="t" l="l"/>
            <a:pathLst>
              <a:path h="302552" w="16230600">
                <a:moveTo>
                  <a:pt x="0" y="0"/>
                </a:moveTo>
                <a:lnTo>
                  <a:pt x="16230600" y="0"/>
                </a:lnTo>
                <a:lnTo>
                  <a:pt x="16230600" y="302552"/>
                </a:lnTo>
                <a:lnTo>
                  <a:pt x="0" y="302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33298" y="575310"/>
            <a:ext cx="2131571" cy="1004830"/>
            <a:chOff x="0" y="0"/>
            <a:chExt cx="2842095" cy="13397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42133" cy="1339723"/>
            </a:xfrm>
            <a:custGeom>
              <a:avLst/>
              <a:gdLst/>
              <a:ahLst/>
              <a:cxnLst/>
              <a:rect r="r" b="b" t="t" l="l"/>
              <a:pathLst>
                <a:path h="1339723" w="284213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t="0" r="-85" b="-3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978664" y="-269129"/>
            <a:ext cx="2475690" cy="2475690"/>
            <a:chOff x="0" y="0"/>
            <a:chExt cx="3300921" cy="33009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00984" cy="3300984"/>
            </a:xfrm>
            <a:custGeom>
              <a:avLst/>
              <a:gdLst/>
              <a:ahLst/>
              <a:cxnLst/>
              <a:rect r="r" b="b" t="t" l="l"/>
              <a:pathLst>
                <a:path h="3300984" w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6308" y="6142606"/>
            <a:ext cx="7955280" cy="5943600"/>
            <a:chOff x="0" y="0"/>
            <a:chExt cx="10607040" cy="7924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607040" cy="7924800"/>
            </a:xfrm>
            <a:custGeom>
              <a:avLst/>
              <a:gdLst/>
              <a:ahLst/>
              <a:cxnLst/>
              <a:rect r="r" b="b" t="t" l="l"/>
              <a:pathLst>
                <a:path h="792480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924800"/>
                  </a:lnTo>
                  <a:lnTo>
                    <a:pt x="0" y="792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87" t="0" r="-287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940752" y="392116"/>
            <a:ext cx="7493126" cy="948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b="true" sz="5398" spc="-43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 SOLUTION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2320820"/>
            <a:ext cx="16583211" cy="554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</a:pPr>
            <a:r>
              <a:rPr lang="en-US" sz="3942" spc="-31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Solution</a:t>
            </a:r>
          </a:p>
          <a:p>
            <a:pPr algn="l" marL="851261" indent="-425631" lvl="1">
              <a:lnSpc>
                <a:spcPts val="5519"/>
              </a:lnSpc>
              <a:buFont typeface="Arial"/>
              <a:buChar char="•"/>
            </a:pPr>
            <a:r>
              <a:rPr lang="en-US" sz="3942" spc="-31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AI-powered debugging copilot</a:t>
            </a:r>
          </a:p>
          <a:p>
            <a:pPr algn="l" marL="851261" indent="-425631" lvl="1">
              <a:lnSpc>
                <a:spcPts val="5519"/>
              </a:lnSpc>
              <a:buFont typeface="Arial"/>
              <a:buChar char="•"/>
            </a:pPr>
            <a:r>
              <a:rPr lang="en-US" sz="3942" spc="-31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plain-English explanations + auto-fixed code</a:t>
            </a:r>
          </a:p>
          <a:p>
            <a:pPr algn="l" marL="851261" indent="-425631" lvl="1">
              <a:lnSpc>
                <a:spcPts val="5519"/>
              </a:lnSpc>
              <a:buFont typeface="Arial"/>
              <a:buChar char="•"/>
            </a:pPr>
            <a:r>
              <a:rPr lang="en-US" sz="3942" spc="-31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Generates interactive DSA/ML visualizations</a:t>
            </a:r>
          </a:p>
          <a:p>
            <a:pPr algn="l" marL="851261" indent="-425631" lvl="1">
              <a:lnSpc>
                <a:spcPts val="5519"/>
              </a:lnSpc>
              <a:buFont typeface="Arial"/>
              <a:buChar char="•"/>
            </a:pPr>
            <a:r>
              <a:rPr lang="en-US" sz="3942" spc="-31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Tracks and learns from user error patterns</a:t>
            </a:r>
          </a:p>
          <a:p>
            <a:pPr algn="l" marL="851261" indent="-425631" lvl="1">
              <a:lnSpc>
                <a:spcPts val="5519"/>
              </a:lnSpc>
              <a:buFont typeface="Arial"/>
              <a:buChar char="•"/>
            </a:pPr>
            <a:r>
              <a:rPr lang="en-US" sz="3942" spc="-31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Runs in offline mode using Ollama (local LLM)</a:t>
            </a:r>
          </a:p>
          <a:p>
            <a:pPr algn="l">
              <a:lnSpc>
                <a:spcPts val="5519"/>
              </a:lnSpc>
            </a:pPr>
          </a:p>
          <a:p>
            <a:pPr algn="l">
              <a:lnSpc>
                <a:spcPts val="552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695938" y="6005471"/>
            <a:ext cx="8475905" cy="4015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3"/>
              </a:lnSpc>
            </a:pPr>
            <a:r>
              <a:rPr lang="en-US" sz="3274" spc="-25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It Solves the Problem</a:t>
            </a:r>
          </a:p>
          <a:p>
            <a:pPr algn="l" marL="706880" indent="-353440" lvl="1">
              <a:lnSpc>
                <a:spcPts val="4583"/>
              </a:lnSpc>
              <a:buFont typeface="Arial"/>
              <a:buChar char="•"/>
            </a:pPr>
            <a:r>
              <a:rPr lang="en-US" sz="3274" spc="-25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Works anytime, even without internet</a:t>
            </a:r>
          </a:p>
          <a:p>
            <a:pPr algn="l" marL="706880" indent="-353440" lvl="1">
              <a:lnSpc>
                <a:spcPts val="4583"/>
              </a:lnSpc>
              <a:buFont typeface="Arial"/>
              <a:buChar char="•"/>
            </a:pPr>
            <a:r>
              <a:rPr lang="en-US" sz="3274" spc="-25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Reduces dependency on external tools</a:t>
            </a:r>
          </a:p>
          <a:p>
            <a:pPr algn="l" marL="706880" indent="-353440" lvl="1">
              <a:lnSpc>
                <a:spcPts val="4583"/>
              </a:lnSpc>
              <a:buFont typeface="Arial"/>
              <a:buChar char="•"/>
            </a:pPr>
            <a:r>
              <a:rPr lang="en-US" sz="3274" spc="-25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Converts debugging into a learning experience</a:t>
            </a:r>
          </a:p>
          <a:p>
            <a:pPr algn="l" marL="706880" indent="-353440" lvl="1">
              <a:lnSpc>
                <a:spcPts val="4583"/>
              </a:lnSpc>
              <a:buFont typeface="Arial"/>
              <a:buChar char="•"/>
            </a:pPr>
            <a:r>
              <a:rPr lang="en-US" sz="3274" spc="-25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Prevents repeated mistakes</a:t>
            </a:r>
          </a:p>
          <a:p>
            <a:pPr algn="l" marL="706880" indent="-353440" lvl="1">
              <a:lnSpc>
                <a:spcPts val="4583"/>
              </a:lnSpc>
              <a:buFont typeface="Arial"/>
              <a:buChar char="•"/>
            </a:pPr>
            <a:r>
              <a:rPr lang="en-US" sz="3274" spc="-25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Improves speed, understanding &amp; confidence</a:t>
            </a:r>
          </a:p>
          <a:p>
            <a:pPr algn="l">
              <a:lnSpc>
                <a:spcPts val="4584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695938" y="1537625"/>
            <a:ext cx="6952159" cy="4267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6"/>
              </a:lnSpc>
            </a:pPr>
            <a:r>
              <a:rPr lang="en-US" sz="3040" spc="-24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Features</a:t>
            </a:r>
          </a:p>
          <a:p>
            <a:pPr algn="l" marL="656418" indent="-328209" lvl="1">
              <a:lnSpc>
                <a:spcPts val="4256"/>
              </a:lnSpc>
              <a:buFont typeface="Arial"/>
              <a:buChar char="•"/>
            </a:pPr>
            <a:r>
              <a:rPr lang="en-US" sz="3040" spc="-24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Error Detection &amp; Auto-Fix</a:t>
            </a:r>
          </a:p>
          <a:p>
            <a:pPr algn="l" marL="656418" indent="-328209" lvl="1">
              <a:lnSpc>
                <a:spcPts val="4256"/>
              </a:lnSpc>
              <a:buFont typeface="Arial"/>
              <a:buChar char="•"/>
            </a:pPr>
            <a:r>
              <a:rPr lang="en-US" sz="3040" spc="-24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Offline Support (Ollama Local Model)</a:t>
            </a:r>
          </a:p>
          <a:p>
            <a:pPr algn="l" marL="656418" indent="-328209" lvl="1">
              <a:lnSpc>
                <a:spcPts val="4256"/>
              </a:lnSpc>
              <a:buFont typeface="Arial"/>
              <a:buChar char="•"/>
            </a:pPr>
            <a:r>
              <a:rPr lang="en-US" sz="3040" spc="-24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Visual Simulations</a:t>
            </a:r>
          </a:p>
          <a:p>
            <a:pPr algn="l" marL="656418" indent="-328209" lvl="1">
              <a:lnSpc>
                <a:spcPts val="4256"/>
              </a:lnSpc>
              <a:buFont typeface="Arial"/>
              <a:buChar char="•"/>
            </a:pPr>
            <a:r>
              <a:rPr lang="en-US" sz="3040" spc="-24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Personalized Learning Mode</a:t>
            </a:r>
          </a:p>
          <a:p>
            <a:pPr algn="l" marL="656418" indent="-328209" lvl="1">
              <a:lnSpc>
                <a:spcPts val="4256"/>
              </a:lnSpc>
              <a:buFont typeface="Arial"/>
              <a:buChar char="•"/>
            </a:pPr>
            <a:r>
              <a:rPr lang="en-US" sz="3040" spc="-24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Error History &amp; Progress Tracking</a:t>
            </a:r>
          </a:p>
          <a:p>
            <a:pPr algn="l" marL="656418" indent="-328209" lvl="1">
              <a:lnSpc>
                <a:spcPts val="4256"/>
              </a:lnSpc>
              <a:buFont typeface="Arial"/>
              <a:buChar char="•"/>
            </a:pPr>
            <a:r>
              <a:rPr lang="en-US" sz="3040" spc="-24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Codebase Scanner (Flutter App)</a:t>
            </a:r>
          </a:p>
          <a:p>
            <a:pPr algn="l">
              <a:lnSpc>
                <a:spcPts val="4256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28700" y="1460497"/>
            <a:ext cx="16230600" cy="302552"/>
          </a:xfrm>
          <a:custGeom>
            <a:avLst/>
            <a:gdLst/>
            <a:ahLst/>
            <a:cxnLst/>
            <a:rect r="r" b="b" t="t" l="l"/>
            <a:pathLst>
              <a:path h="302552" w="16230600">
                <a:moveTo>
                  <a:pt x="0" y="0"/>
                </a:moveTo>
                <a:lnTo>
                  <a:pt x="16230600" y="0"/>
                </a:lnTo>
                <a:lnTo>
                  <a:pt x="16230600" y="302552"/>
                </a:lnTo>
                <a:lnTo>
                  <a:pt x="0" y="302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33298" y="575310"/>
            <a:ext cx="2131571" cy="1004830"/>
            <a:chOff x="0" y="0"/>
            <a:chExt cx="2842095" cy="13397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42133" cy="1339723"/>
            </a:xfrm>
            <a:custGeom>
              <a:avLst/>
              <a:gdLst/>
              <a:ahLst/>
              <a:cxnLst/>
              <a:rect r="r" b="b" t="t" l="l"/>
              <a:pathLst>
                <a:path h="1339723" w="284213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t="0" r="-85" b="-3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978664" y="-269129"/>
            <a:ext cx="2475690" cy="2475690"/>
            <a:chOff x="0" y="0"/>
            <a:chExt cx="3300921" cy="33009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00984" cy="3300984"/>
            </a:xfrm>
            <a:custGeom>
              <a:avLst/>
              <a:gdLst/>
              <a:ahLst/>
              <a:cxnLst/>
              <a:rect r="r" b="b" t="t" l="l"/>
              <a:pathLst>
                <a:path h="3300984" w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26672" y="3073119"/>
            <a:ext cx="9443558" cy="5132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3"/>
              </a:lnSpc>
            </a:pPr>
            <a:r>
              <a:rPr lang="en-US" sz="3195" spc="-25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 (React.js)</a:t>
            </a:r>
          </a:p>
          <a:p>
            <a:pPr algn="l" marL="689826" indent="-344913" lvl="1">
              <a:lnSpc>
                <a:spcPts val="4473"/>
              </a:lnSpc>
              <a:buFont typeface="Arial"/>
              <a:buChar char="•"/>
            </a:pPr>
            <a:r>
              <a:rPr lang="en-US" sz="3195" spc="-25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inputs code + error</a:t>
            </a:r>
          </a:p>
          <a:p>
            <a:pPr algn="l">
              <a:lnSpc>
                <a:spcPts val="4473"/>
              </a:lnSpc>
            </a:pPr>
            <a:r>
              <a:rPr lang="en-US" sz="3195" spc="-25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 (Node.js API)  </a:t>
            </a:r>
          </a:p>
          <a:p>
            <a:pPr algn="l" marL="689826" indent="-344913" lvl="1">
              <a:lnSpc>
                <a:spcPts val="4473"/>
              </a:lnSpc>
              <a:buFont typeface="Arial"/>
              <a:buChar char="•"/>
            </a:pPr>
            <a:r>
              <a:rPr lang="en-US" sz="3195" spc="-25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Handles requests &amp; prompt processing</a:t>
            </a:r>
          </a:p>
          <a:p>
            <a:pPr algn="l" marL="689826" indent="-344913" lvl="1">
              <a:lnSpc>
                <a:spcPts val="4473"/>
              </a:lnSpc>
              <a:buFont typeface="Arial"/>
              <a:buChar char="•"/>
            </a:pPr>
            <a:r>
              <a:rPr lang="en-US" sz="3195" spc="-25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Connects frontend with AI models</a:t>
            </a:r>
          </a:p>
          <a:p>
            <a:pPr algn="l">
              <a:lnSpc>
                <a:spcPts val="4473"/>
              </a:lnSpc>
            </a:pPr>
            <a:r>
              <a:rPr lang="en-US" sz="3195" spc="-25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Engine</a:t>
            </a:r>
          </a:p>
          <a:p>
            <a:pPr algn="l" marL="689826" indent="-344913" lvl="1">
              <a:lnSpc>
                <a:spcPts val="4473"/>
              </a:lnSpc>
              <a:buFont typeface="Arial"/>
              <a:buChar char="•"/>
            </a:pPr>
            <a:r>
              <a:rPr lang="en-US" sz="3195" spc="-25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Gemini API (online mode) for fast responses</a:t>
            </a:r>
          </a:p>
          <a:p>
            <a:pPr algn="l" marL="689826" indent="-344913" lvl="1">
              <a:lnSpc>
                <a:spcPts val="4473"/>
              </a:lnSpc>
              <a:buFont typeface="Arial"/>
              <a:buChar char="•"/>
            </a:pPr>
            <a:r>
              <a:rPr lang="en-US" sz="3195" spc="-25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Ollama (offline local LLM) for no-internet usage</a:t>
            </a:r>
          </a:p>
          <a:p>
            <a:pPr algn="l">
              <a:lnSpc>
                <a:spcPts val="5082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176633" y="1396632"/>
            <a:ext cx="16230600" cy="302552"/>
          </a:xfrm>
          <a:custGeom>
            <a:avLst/>
            <a:gdLst/>
            <a:ahLst/>
            <a:cxnLst/>
            <a:rect r="r" b="b" t="t" l="l"/>
            <a:pathLst>
              <a:path h="302552" w="16230600">
                <a:moveTo>
                  <a:pt x="0" y="0"/>
                </a:moveTo>
                <a:lnTo>
                  <a:pt x="16230600" y="0"/>
                </a:lnTo>
                <a:lnTo>
                  <a:pt x="16230600" y="302552"/>
                </a:lnTo>
                <a:lnTo>
                  <a:pt x="0" y="302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33298" y="575310"/>
            <a:ext cx="2131571" cy="1004830"/>
            <a:chOff x="0" y="0"/>
            <a:chExt cx="2842095" cy="133977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42133" cy="1339723"/>
            </a:xfrm>
            <a:custGeom>
              <a:avLst/>
              <a:gdLst/>
              <a:ahLst/>
              <a:cxnLst/>
              <a:rect r="r" b="b" t="t" l="l"/>
              <a:pathLst>
                <a:path h="1339723" w="284213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t="0" r="-85" b="-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978664" y="-269129"/>
            <a:ext cx="2475690" cy="2475690"/>
            <a:chOff x="0" y="0"/>
            <a:chExt cx="3300921" cy="33009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00984" cy="3300984"/>
            </a:xfrm>
            <a:custGeom>
              <a:avLst/>
              <a:gdLst/>
              <a:ahLst/>
              <a:cxnLst/>
              <a:rect r="r" b="b" t="t" l="l"/>
              <a:pathLst>
                <a:path h="3300984" w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7701819" y="2230798"/>
            <a:ext cx="10361517" cy="6903361"/>
          </a:xfrm>
          <a:custGeom>
            <a:avLst/>
            <a:gdLst/>
            <a:ahLst/>
            <a:cxnLst/>
            <a:rect r="r" b="b" t="t" l="l"/>
            <a:pathLst>
              <a:path h="6903361" w="10361517">
                <a:moveTo>
                  <a:pt x="0" y="0"/>
                </a:moveTo>
                <a:lnTo>
                  <a:pt x="10361517" y="0"/>
                </a:lnTo>
                <a:lnTo>
                  <a:pt x="10361517" y="6903361"/>
                </a:lnTo>
                <a:lnTo>
                  <a:pt x="0" y="69033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048451" y="272196"/>
            <a:ext cx="7793182" cy="89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9"/>
              </a:lnSpc>
            </a:pPr>
            <a:r>
              <a:rPr lang="en-US" b="true" sz="5099" spc="-406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SYSTEM   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954675" y="262671"/>
            <a:ext cx="10896419" cy="948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b="true" sz="5398" spc="-43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WORKING    PROCESS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01303" y="2089785"/>
            <a:ext cx="8686800" cy="1341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8568" indent="-289523" lvl="2">
              <a:lnSpc>
                <a:spcPts val="5319"/>
              </a:lnSpc>
              <a:buFont typeface="Arial"/>
              <a:buChar char="⚬"/>
            </a:pPr>
            <a:r>
              <a:rPr lang="en-US" sz="3798" spc="-30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1: Paste code + error into React web app OR open project folder in Flutter desktop app.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01303" y="3945859"/>
            <a:ext cx="8686800" cy="1341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8568" indent="-289523" lvl="2">
              <a:lnSpc>
                <a:spcPts val="5319"/>
              </a:lnSpc>
              <a:buFont typeface="Arial"/>
              <a:buChar char="⚬"/>
            </a:pPr>
            <a:r>
              <a:rPr lang="en-US" sz="3798" spc="-30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2: Click Explain &amp; Fix → Gemini returns explanation + corrected code + sim type.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01303" y="5678108"/>
            <a:ext cx="8686800" cy="1341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8568" indent="-289523" lvl="2">
              <a:lnSpc>
                <a:spcPts val="5319"/>
              </a:lnSpc>
              <a:buFont typeface="Arial"/>
              <a:buChar char="⚬"/>
            </a:pPr>
            <a:r>
              <a:rPr lang="en-US" sz="3798" spc="-30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3: React renders live DSA/ML simulation. Error saved to History Dashboard.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287580" y="1396632"/>
            <a:ext cx="16230600" cy="302552"/>
          </a:xfrm>
          <a:custGeom>
            <a:avLst/>
            <a:gdLst/>
            <a:ahLst/>
            <a:cxnLst/>
            <a:rect r="r" b="b" t="t" l="l"/>
            <a:pathLst>
              <a:path h="302552" w="16230600">
                <a:moveTo>
                  <a:pt x="0" y="0"/>
                </a:moveTo>
                <a:lnTo>
                  <a:pt x="16230600" y="0"/>
                </a:lnTo>
                <a:lnTo>
                  <a:pt x="16230600" y="302552"/>
                </a:lnTo>
                <a:lnTo>
                  <a:pt x="0" y="302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33298" y="575310"/>
            <a:ext cx="2131571" cy="1004830"/>
            <a:chOff x="0" y="0"/>
            <a:chExt cx="2842095" cy="13397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42133" cy="1339723"/>
            </a:xfrm>
            <a:custGeom>
              <a:avLst/>
              <a:gdLst/>
              <a:ahLst/>
              <a:cxnLst/>
              <a:rect r="r" b="b" t="t" l="l"/>
              <a:pathLst>
                <a:path h="1339723" w="284213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t="0" r="-85" b="-3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007239" y="-269129"/>
            <a:ext cx="2475690" cy="2475690"/>
            <a:chOff x="0" y="0"/>
            <a:chExt cx="3300921" cy="33009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00984" cy="3300984"/>
            </a:xfrm>
            <a:custGeom>
              <a:avLst/>
              <a:gdLst/>
              <a:ahLst/>
              <a:cxnLst/>
              <a:rect r="r" b="b" t="t" l="l"/>
              <a:pathLst>
                <a:path h="3300984" w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402885" y="1880159"/>
            <a:ext cx="8685770" cy="5029200"/>
            <a:chOff x="0" y="0"/>
            <a:chExt cx="11581027" cy="6705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581027" cy="6705600"/>
            </a:xfrm>
            <a:custGeom>
              <a:avLst/>
              <a:gdLst/>
              <a:ahLst/>
              <a:cxnLst/>
              <a:rect r="r" b="b" t="t" l="l"/>
              <a:pathLst>
                <a:path h="6705600" w="11581027">
                  <a:moveTo>
                    <a:pt x="0" y="0"/>
                  </a:moveTo>
                  <a:lnTo>
                    <a:pt x="11581027" y="0"/>
                  </a:lnTo>
                  <a:lnTo>
                    <a:pt x="11581027" y="6705600"/>
                  </a:lnTo>
                  <a:lnTo>
                    <a:pt x="0" y="670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4148" r="0" b="-14148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0820160" y="6310094"/>
            <a:ext cx="6424924" cy="3184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62"/>
              </a:lnSpc>
              <a:spcBef>
                <a:spcPct val="0"/>
              </a:spcBef>
            </a:pPr>
            <a:r>
              <a:rPr lang="en-US" b="true" sz="3511" spc="-396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Smart Processing</a:t>
            </a:r>
          </a:p>
          <a:p>
            <a:pPr algn="l" marL="678244" indent="-339122" lvl="1">
              <a:lnSpc>
                <a:spcPts val="6229"/>
              </a:lnSpc>
              <a:buFont typeface="Arial"/>
              <a:buChar char="•"/>
            </a:pPr>
            <a:r>
              <a:rPr lang="en-US" sz="3141" spc="-35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Chooses Gemini (online) for fast results</a:t>
            </a:r>
          </a:p>
          <a:p>
            <a:pPr algn="l" marL="678244" indent="-339122" lvl="1">
              <a:lnSpc>
                <a:spcPts val="6229"/>
              </a:lnSpc>
              <a:buFont typeface="Arial"/>
              <a:buChar char="•"/>
            </a:pPr>
            <a:r>
              <a:rPr lang="en-US" sz="3141" spc="-35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Switches to Ollama (offline) when no internet</a:t>
            </a:r>
          </a:p>
          <a:p>
            <a:pPr algn="l" marL="678244" indent="-339122" lvl="1">
              <a:lnSpc>
                <a:spcPts val="6229"/>
              </a:lnSpc>
              <a:buFont typeface="Arial"/>
              <a:buChar char="•"/>
            </a:pPr>
            <a:r>
              <a:rPr lang="en-US" sz="3141" spc="-35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Adapts response based on user level &amp; past errors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48578" y="-393992"/>
            <a:ext cx="4344910" cy="1664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49"/>
              </a:lnSpc>
            </a:pPr>
            <a:r>
              <a:rPr lang="en-US" b="true" sz="5899" spc="-98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  STACK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25226" y="2858503"/>
            <a:ext cx="8686800" cy="785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30159" indent="-310053" lvl="2">
              <a:lnSpc>
                <a:spcPts val="6741"/>
              </a:lnSpc>
              <a:buFont typeface="Arial"/>
              <a:buChar char="⚬"/>
            </a:pPr>
            <a:r>
              <a:rPr lang="en-US" sz="3399" spc="-38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Frontend: React.js + Tailwind CSS 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25160" y="3862889"/>
            <a:ext cx="8686800" cy="785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30159" indent="-310053" lvl="2">
              <a:lnSpc>
                <a:spcPts val="6741"/>
              </a:lnSpc>
              <a:buFont typeface="Arial"/>
              <a:buChar char="⚬"/>
            </a:pPr>
            <a:r>
              <a:rPr lang="en-US" sz="3399" spc="-38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Backend: Node.js + Express   , Gemini API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25160" y="4857750"/>
            <a:ext cx="8686800" cy="814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57517" indent="-319172" lvl="2">
              <a:lnSpc>
                <a:spcPts val="6940"/>
              </a:lnSpc>
              <a:buFont typeface="Arial"/>
              <a:buChar char="⚬"/>
            </a:pPr>
            <a:r>
              <a:rPr lang="en-US" sz="3499" spc="-39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</a:t>
            </a:r>
            <a:r>
              <a:rPr lang="en-US" sz="3499" spc="-39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 LocalStorage (web)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25160" y="5907701"/>
            <a:ext cx="8686800" cy="1690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57517" indent="-319172" lvl="2">
              <a:lnSpc>
                <a:spcPts val="6940"/>
              </a:lnSpc>
              <a:buFont typeface="Arial"/>
              <a:buChar char="⚬"/>
            </a:pPr>
            <a:r>
              <a:rPr lang="en-US" sz="3499" spc="-39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+ Desktop: Gemini 2.5 Flash (LLM) + Flutter (desktop codebase scanner &amp; auto-patcher).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33298" y="575310"/>
            <a:ext cx="2131571" cy="1004830"/>
            <a:chOff x="0" y="0"/>
            <a:chExt cx="2842095" cy="13397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42133" cy="1339723"/>
            </a:xfrm>
            <a:custGeom>
              <a:avLst/>
              <a:gdLst/>
              <a:ahLst/>
              <a:cxnLst/>
              <a:rect r="r" b="b" t="t" l="l"/>
              <a:pathLst>
                <a:path h="1339723" w="284213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6" t="0" r="-85" b="-3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978664" y="-269129"/>
            <a:ext cx="2475690" cy="2475690"/>
            <a:chOff x="0" y="0"/>
            <a:chExt cx="3300921" cy="33009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00984" cy="3300984"/>
            </a:xfrm>
            <a:custGeom>
              <a:avLst/>
              <a:gdLst/>
              <a:ahLst/>
              <a:cxnLst/>
              <a:rect r="r" b="b" t="t" l="l"/>
              <a:pathLst>
                <a:path h="3300984" w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1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515600" y="2286000"/>
            <a:ext cx="6400800" cy="5943600"/>
            <a:chOff x="0" y="0"/>
            <a:chExt cx="8534400" cy="7924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534400" cy="7924800"/>
            </a:xfrm>
            <a:custGeom>
              <a:avLst/>
              <a:gdLst/>
              <a:ahLst/>
              <a:cxnLst/>
              <a:rect r="r" b="b" t="t" l="l"/>
              <a:pathLst>
                <a:path h="792480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7924800"/>
                  </a:lnTo>
                  <a:lnTo>
                    <a:pt x="0" y="792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2500" t="0" r="-1250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730030" y="-318687"/>
            <a:ext cx="7003999" cy="1508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99"/>
              </a:lnSpc>
            </a:pPr>
            <a:r>
              <a:rPr lang="en-US" b="true" sz="5399" spc="-83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IMPLEMENTATION       PLAN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45230" y="1881112"/>
            <a:ext cx="8686800" cy="1665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68709" indent="-322903" lvl="2">
              <a:lnSpc>
                <a:spcPts val="6772"/>
              </a:lnSpc>
              <a:buFont typeface="Arial"/>
              <a:buChar char="⚬"/>
            </a:pPr>
            <a:r>
              <a:rPr lang="en-US" sz="3699" spc="-38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Roadmap: React UI → Gemini API → DSA/ML simulations → Flutter codebase scanner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57200" y="4666878"/>
            <a:ext cx="9380581" cy="1665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68709" indent="-322903" lvl="2">
              <a:lnSpc>
                <a:spcPts val="6772"/>
              </a:lnSpc>
              <a:buFont typeface="Arial"/>
              <a:buChar char="⚬"/>
            </a:pPr>
            <a:r>
              <a:rPr lang="en-US" sz="3699" spc="-38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Modules: Input Interface | Gemini Engine |  Mermaid, Manim | History Dashboard | Flutter App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7200" y="7452644"/>
            <a:ext cx="16174847" cy="1665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68709" indent="-322903" lvl="2">
              <a:lnSpc>
                <a:spcPts val="6772"/>
              </a:lnSpc>
              <a:buFont typeface="Arial"/>
              <a:buChar char="⚬"/>
            </a:pPr>
            <a:r>
              <a:rPr lang="en-US" sz="3699" spc="-38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Timeline: Core web prototype  → Gemini integration today → Flutter desktop app + visual animations → Full polished prototype ready for offline round tomorrow.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116730" y="1307173"/>
            <a:ext cx="16230600" cy="302552"/>
          </a:xfrm>
          <a:custGeom>
            <a:avLst/>
            <a:gdLst/>
            <a:ahLst/>
            <a:cxnLst/>
            <a:rect r="r" b="b" t="t" l="l"/>
            <a:pathLst>
              <a:path h="302552" w="16230600">
                <a:moveTo>
                  <a:pt x="0" y="0"/>
                </a:moveTo>
                <a:lnTo>
                  <a:pt x="16230600" y="0"/>
                </a:lnTo>
                <a:lnTo>
                  <a:pt x="16230600" y="302552"/>
                </a:lnTo>
                <a:lnTo>
                  <a:pt x="0" y="302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33298" y="575310"/>
            <a:ext cx="2131571" cy="1004830"/>
            <a:chOff x="0" y="0"/>
            <a:chExt cx="2842095" cy="13397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42133" cy="1339723"/>
            </a:xfrm>
            <a:custGeom>
              <a:avLst/>
              <a:gdLst/>
              <a:ahLst/>
              <a:cxnLst/>
              <a:rect r="r" b="b" t="t" l="l"/>
              <a:pathLst>
                <a:path h="1339723" w="284213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t="0" r="-85" b="-3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978664" y="-269129"/>
            <a:ext cx="2475690" cy="2475690"/>
            <a:chOff x="0" y="0"/>
            <a:chExt cx="3300921" cy="33009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00984" cy="3300984"/>
            </a:xfrm>
            <a:custGeom>
              <a:avLst/>
              <a:gdLst/>
              <a:ahLst/>
              <a:cxnLst/>
              <a:rect r="r" b="b" t="t" l="l"/>
              <a:pathLst>
                <a:path h="3300984" w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479504" y="2128762"/>
            <a:ext cx="7808496" cy="6015920"/>
            <a:chOff x="0" y="0"/>
            <a:chExt cx="8703682" cy="6705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703682" cy="6705600"/>
            </a:xfrm>
            <a:custGeom>
              <a:avLst/>
              <a:gdLst/>
              <a:ahLst/>
              <a:cxnLst/>
              <a:rect r="r" b="b" t="t" l="l"/>
              <a:pathLst>
                <a:path h="6705600" w="8703682">
                  <a:moveTo>
                    <a:pt x="0" y="0"/>
                  </a:moveTo>
                  <a:lnTo>
                    <a:pt x="8703682" y="0"/>
                  </a:lnTo>
                  <a:lnTo>
                    <a:pt x="8703682" y="6705600"/>
                  </a:lnTo>
                  <a:lnTo>
                    <a:pt x="0" y="670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856" t="0" r="-1855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896555" y="-308210"/>
            <a:ext cx="8827741" cy="148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49"/>
              </a:lnSpc>
            </a:pPr>
            <a:r>
              <a:rPr lang="en-US" b="true" sz="5299" spc="-81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EXPECTED     OUTCOME 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65415" y="1707578"/>
            <a:ext cx="17675309" cy="4783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0975" indent="-375487" lvl="1">
              <a:lnSpc>
                <a:spcPts val="6365"/>
              </a:lnSpc>
              <a:buFont typeface="Arial"/>
              <a:buChar char="•"/>
            </a:pPr>
            <a:r>
              <a:rPr lang="en-US" sz="3478" spc="-36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Working prototype with AI-based error explanation &amp; auto-fix</a:t>
            </a:r>
          </a:p>
          <a:p>
            <a:pPr algn="l" marL="750975" indent="-375487" lvl="1">
              <a:lnSpc>
                <a:spcPts val="6365"/>
              </a:lnSpc>
              <a:buFont typeface="Arial"/>
              <a:buChar char="•"/>
            </a:pPr>
            <a:r>
              <a:rPr lang="en-US" sz="3478" spc="-36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Generates instant plain-English debugging insights</a:t>
            </a:r>
          </a:p>
          <a:p>
            <a:pPr algn="l" marL="750975" indent="-375487" lvl="1">
              <a:lnSpc>
                <a:spcPts val="6365"/>
              </a:lnSpc>
              <a:buFont typeface="Arial"/>
              <a:buChar char="•"/>
            </a:pPr>
            <a:r>
              <a:rPr lang="en-US" sz="3478" spc="-36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Supports online (Gemini) + offline (Ollama) modes</a:t>
            </a:r>
          </a:p>
          <a:p>
            <a:pPr algn="l" marL="750975" indent="-375487" lvl="1">
              <a:lnSpc>
                <a:spcPts val="6365"/>
              </a:lnSpc>
              <a:buFont typeface="Arial"/>
              <a:buChar char="•"/>
            </a:pPr>
            <a:r>
              <a:rPr lang="en-US" sz="3478" spc="-36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Displays interactive DSA/ML visualizations</a:t>
            </a:r>
          </a:p>
          <a:p>
            <a:pPr algn="l" marL="750975" indent="-375487" lvl="1">
              <a:lnSpc>
                <a:spcPts val="6365"/>
              </a:lnSpc>
              <a:buFont typeface="Arial"/>
              <a:buChar char="•"/>
            </a:pPr>
            <a:r>
              <a:rPr lang="en-US" sz="3478" spc="-36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Tracks errors in History Dashboard</a:t>
            </a:r>
          </a:p>
          <a:p>
            <a:pPr algn="l">
              <a:lnSpc>
                <a:spcPts val="6366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699084" y="5789945"/>
            <a:ext cx="12291656" cy="3673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8"/>
              </a:lnSpc>
            </a:pPr>
            <a:r>
              <a:rPr lang="en-US" sz="3485" spc="-362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Results Achieved</a:t>
            </a:r>
          </a:p>
          <a:p>
            <a:pPr algn="l" marL="676903" indent="-338451" lvl="1">
              <a:lnSpc>
                <a:spcPts val="5737"/>
              </a:lnSpc>
              <a:buFont typeface="Arial"/>
              <a:buChar char="•"/>
            </a:pPr>
            <a:r>
              <a:rPr lang="en-US" sz="3135" spc="-32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Improved  concept  understanding</a:t>
            </a:r>
          </a:p>
          <a:p>
            <a:pPr algn="l" marL="676903" indent="-338451" lvl="1">
              <a:lnSpc>
                <a:spcPts val="5737"/>
              </a:lnSpc>
              <a:buFont typeface="Arial"/>
              <a:buChar char="•"/>
            </a:pPr>
            <a:r>
              <a:rPr lang="en-US" sz="3135" spc="-32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Faster  and more efficient coding</a:t>
            </a:r>
          </a:p>
          <a:p>
            <a:pPr algn="l" marL="676903" indent="-338451" lvl="1">
              <a:lnSpc>
                <a:spcPts val="5737"/>
              </a:lnSpc>
              <a:buFont typeface="Arial"/>
              <a:buChar char="•"/>
            </a:pPr>
            <a:r>
              <a:rPr lang="en-US" sz="3135" spc="-32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Reduced dependency on external tools</a:t>
            </a:r>
          </a:p>
          <a:p>
            <a:pPr algn="l">
              <a:lnSpc>
                <a:spcPts val="5738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002904" y="5495925"/>
            <a:ext cx="7976735" cy="424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8"/>
              </a:lnSpc>
            </a:pPr>
            <a:r>
              <a:rPr lang="en-US" sz="3583" spc="-372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Current Status</a:t>
            </a:r>
          </a:p>
          <a:p>
            <a:pPr algn="l" marL="644178" indent="-322089" lvl="1">
              <a:lnSpc>
                <a:spcPts val="5460"/>
              </a:lnSpc>
              <a:buFont typeface="Arial"/>
              <a:buChar char="•"/>
            </a:pPr>
            <a:r>
              <a:rPr lang="en-US" sz="2983" spc="-31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web prototype built &amp; running</a:t>
            </a:r>
          </a:p>
          <a:p>
            <a:pPr algn="l" marL="644178" indent="-322089" lvl="1">
              <a:lnSpc>
                <a:spcPts val="5460"/>
              </a:lnSpc>
              <a:buFont typeface="Arial"/>
              <a:buChar char="•"/>
            </a:pPr>
            <a:r>
              <a:rPr lang="en-US" sz="2983" spc="-31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integration implemented</a:t>
            </a:r>
          </a:p>
          <a:p>
            <a:pPr algn="l" marL="644178" indent="-322089" lvl="1">
              <a:lnSpc>
                <a:spcPts val="5460"/>
              </a:lnSpc>
              <a:buFont typeface="Arial"/>
              <a:buChar char="•"/>
            </a:pPr>
            <a:r>
              <a:rPr lang="en-US" sz="2983" spc="-31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 simulation module in progress</a:t>
            </a:r>
          </a:p>
          <a:p>
            <a:pPr algn="l" marL="644178" indent="-322089" lvl="1">
              <a:lnSpc>
                <a:spcPts val="5460"/>
              </a:lnSpc>
              <a:buFont typeface="Arial"/>
              <a:buChar char="•"/>
            </a:pPr>
            <a:r>
              <a:rPr lang="en-US" sz="2983" spc="-31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Flutter desktop scanner partially completed</a:t>
            </a:r>
          </a:p>
          <a:p>
            <a:pPr algn="l">
              <a:lnSpc>
                <a:spcPts val="5461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65415" y="1289285"/>
            <a:ext cx="16230600" cy="302552"/>
          </a:xfrm>
          <a:custGeom>
            <a:avLst/>
            <a:gdLst/>
            <a:ahLst/>
            <a:cxnLst/>
            <a:rect r="r" b="b" t="t" l="l"/>
            <a:pathLst>
              <a:path h="302552" w="16230600">
                <a:moveTo>
                  <a:pt x="0" y="0"/>
                </a:moveTo>
                <a:lnTo>
                  <a:pt x="16230600" y="0"/>
                </a:lnTo>
                <a:lnTo>
                  <a:pt x="16230600" y="302552"/>
                </a:lnTo>
                <a:lnTo>
                  <a:pt x="0" y="302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33298" y="575310"/>
            <a:ext cx="2131571" cy="1004830"/>
            <a:chOff x="0" y="0"/>
            <a:chExt cx="2842095" cy="13397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42133" cy="1339723"/>
            </a:xfrm>
            <a:custGeom>
              <a:avLst/>
              <a:gdLst/>
              <a:ahLst/>
              <a:cxnLst/>
              <a:rect r="r" b="b" t="t" l="l"/>
              <a:pathLst>
                <a:path h="1339723" w="284213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t="0" r="-85" b="-3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978664" y="-269129"/>
            <a:ext cx="2475690" cy="2475690"/>
            <a:chOff x="0" y="0"/>
            <a:chExt cx="3300921" cy="33009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00984" cy="3300984"/>
            </a:xfrm>
            <a:custGeom>
              <a:avLst/>
              <a:gdLst/>
              <a:ahLst/>
              <a:cxnLst/>
              <a:rect r="r" b="b" t="t" l="l"/>
              <a:pathLst>
                <a:path h="3300984" w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71" r="0" b="-927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503649" y="-316678"/>
            <a:ext cx="9836648" cy="1403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99"/>
              </a:lnSpc>
            </a:pPr>
            <a:r>
              <a:rPr lang="en-US" b="true" sz="4999" spc="-76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    SCOPE    AND     CONCLUSION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52772" y="1542040"/>
            <a:ext cx="8669319" cy="3605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3"/>
              </a:lnSpc>
            </a:pPr>
            <a:r>
              <a:rPr lang="en-US" sz="3133" spc="-32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</a:p>
          <a:p>
            <a:pPr algn="l" marL="676471" indent="-338235" lvl="1">
              <a:lnSpc>
                <a:spcPts val="5733"/>
              </a:lnSpc>
              <a:buFont typeface="Arial"/>
              <a:buChar char="•"/>
            </a:pPr>
            <a:r>
              <a:rPr lang="en-US" sz="3133" spc="-32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Expand DSA/ML visualizations</a:t>
            </a:r>
          </a:p>
          <a:p>
            <a:pPr algn="l" marL="676471" indent="-338235" lvl="1">
              <a:lnSpc>
                <a:spcPts val="5733"/>
              </a:lnSpc>
              <a:buFont typeface="Arial"/>
              <a:buChar char="•"/>
            </a:pPr>
            <a:r>
              <a:rPr lang="en-US" sz="3133" spc="-32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 &amp; browser plugin integration</a:t>
            </a:r>
          </a:p>
          <a:p>
            <a:pPr algn="l" marL="676471" indent="-338235" lvl="1">
              <a:lnSpc>
                <a:spcPts val="5733"/>
              </a:lnSpc>
              <a:buFont typeface="Arial"/>
              <a:buChar char="•"/>
            </a:pPr>
            <a:r>
              <a:rPr lang="en-US" sz="3133" spc="-32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AI-based pair programming assistant</a:t>
            </a:r>
          </a:p>
          <a:p>
            <a:pPr algn="l">
              <a:lnSpc>
                <a:spcPts val="5735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460677" y="8130647"/>
            <a:ext cx="17366647" cy="159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57"/>
              </a:lnSpc>
            </a:pPr>
            <a:r>
              <a:rPr lang="en-US" sz="3528" spc="-36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ErrorBuddy doesn’t just fix errors  it transforms confused coders into confident developers. </a:t>
            </a:r>
          </a:p>
          <a:p>
            <a:pPr algn="ctr">
              <a:lnSpc>
                <a:spcPts val="6458"/>
              </a:lnSpc>
            </a:pPr>
            <a:r>
              <a:rPr lang="en-US" sz="3528" spc="-36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“Making coding accessible, one error at a time.”  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136047" y="1271397"/>
            <a:ext cx="16230600" cy="302552"/>
          </a:xfrm>
          <a:custGeom>
            <a:avLst/>
            <a:gdLst/>
            <a:ahLst/>
            <a:cxnLst/>
            <a:rect r="r" b="b" t="t" l="l"/>
            <a:pathLst>
              <a:path h="302552" w="16230600">
                <a:moveTo>
                  <a:pt x="0" y="0"/>
                </a:moveTo>
                <a:lnTo>
                  <a:pt x="16230600" y="0"/>
                </a:lnTo>
                <a:lnTo>
                  <a:pt x="16230600" y="302552"/>
                </a:lnTo>
                <a:lnTo>
                  <a:pt x="0" y="302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633298" y="575310"/>
            <a:ext cx="2131571" cy="1004830"/>
            <a:chOff x="0" y="0"/>
            <a:chExt cx="2842095" cy="13397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42133" cy="1339723"/>
            </a:xfrm>
            <a:custGeom>
              <a:avLst/>
              <a:gdLst/>
              <a:ahLst/>
              <a:cxnLst/>
              <a:rect r="r" b="b" t="t" l="l"/>
              <a:pathLst>
                <a:path h="1339723" w="284213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t="0" r="-85" b="-3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978664" y="-269129"/>
            <a:ext cx="2475690" cy="2475690"/>
            <a:chOff x="0" y="0"/>
            <a:chExt cx="3300921" cy="330092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300984" cy="3300984"/>
            </a:xfrm>
            <a:custGeom>
              <a:avLst/>
              <a:gdLst/>
              <a:ahLst/>
              <a:cxnLst/>
              <a:rect r="r" b="b" t="t" l="l"/>
              <a:pathLst>
                <a:path h="3300984" w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927592" y="1077725"/>
            <a:ext cx="7779282" cy="6767172"/>
            <a:chOff x="0" y="0"/>
            <a:chExt cx="9110046" cy="7924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10046" cy="7924800"/>
            </a:xfrm>
            <a:custGeom>
              <a:avLst/>
              <a:gdLst/>
              <a:ahLst/>
              <a:cxnLst/>
              <a:rect r="r" b="b" t="t" l="l"/>
              <a:pathLst>
                <a:path h="7924800" w="9110046">
                  <a:moveTo>
                    <a:pt x="0" y="0"/>
                  </a:moveTo>
                  <a:lnTo>
                    <a:pt x="9110046" y="0"/>
                  </a:lnTo>
                  <a:lnTo>
                    <a:pt x="9110046" y="7924800"/>
                  </a:lnTo>
                  <a:lnTo>
                    <a:pt x="0" y="792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8550" t="0" r="-855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2320577" y="4953000"/>
            <a:ext cx="7384721" cy="2687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8"/>
              </a:lnSpc>
              <a:spcBef>
                <a:spcPct val="0"/>
              </a:spcBef>
            </a:pPr>
            <a:r>
              <a:rPr lang="en-US" b="true" sz="2949" spc="-307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Scalability</a:t>
            </a:r>
          </a:p>
          <a:p>
            <a:pPr algn="l" marL="636813" indent="-318407" lvl="1">
              <a:lnSpc>
                <a:spcPts val="5398"/>
              </a:lnSpc>
              <a:buFont typeface="Arial"/>
              <a:buChar char="•"/>
            </a:pPr>
            <a:r>
              <a:rPr lang="en-US" sz="2949" spc="-30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 across colleges &amp; platforms</a:t>
            </a:r>
          </a:p>
          <a:p>
            <a:pPr algn="l" marL="636813" indent="-318407" lvl="1">
              <a:lnSpc>
                <a:spcPts val="5398"/>
              </a:lnSpc>
              <a:buFont typeface="Arial"/>
              <a:buChar char="•"/>
            </a:pPr>
            <a:r>
              <a:rPr lang="en-US" sz="2949" spc="-30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Multi-language support</a:t>
            </a:r>
          </a:p>
          <a:p>
            <a:pPr algn="l" marL="636813" indent="-318407" lvl="1">
              <a:lnSpc>
                <a:spcPts val="5398"/>
              </a:lnSpc>
              <a:buFont typeface="Arial"/>
              <a:buChar char="•"/>
            </a:pPr>
            <a:r>
              <a:rPr lang="en-US" sz="2949" spc="-30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Scalable as a SaaS product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DAHFswitmCQ</dc:identifier>
  <dcterms:modified xsi:type="dcterms:W3CDTF">2011-08-01T06:04:30Z</dcterms:modified>
  <cp:revision>1</cp:revision>
  <dc:title>ErrorBuddy_HackMatrix2026.pptx</dc:title>
</cp:coreProperties>
</file>