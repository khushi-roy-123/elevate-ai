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1.png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2.png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3.png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4.png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5.png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6.png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7.png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8.png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9.png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ype="http://schemas.openxmlformats.org/officeDocument/2006/relationships/image" Target="../media/errorbuddy_icon10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0" y="0"/>
            <ns1:ext cx="18288000" cy="10287000"/>
          </ns1:xfrm>
          <ns1:custGeom>
            <ns1:avLst/>
            <ns1:gdLst/>
            <ns1:ahLst/>
            <ns1:cxnLst/>
            <ns1:rect r="r" b="b" t="t" l="l"/>
            <ns1:pathLst>
              <ns1:path h="10287000" w="18288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-69313" r="0" b="-69313"/>
            </ns1:stretch>
          </ns1:blipFill>
        </ns0:spPr>
      </ns0:sp>
      <ns0:grpSp>
        <ns0:nvGrpSpPr>
          <ns0:cNvPr name="Group 3" id="3"/>
          <ns0:cNvGrpSpPr/>
          <ns0:nvPr/>
        </ns0:nvGrpSpPr>
        <ns0:grpSpPr>
          <ns1:xfrm rot="0">
            <ns1:off x="1153933" y="2694198"/>
            <ns1:ext cx="16230600" cy="149974"/>
            <ns1:chOff x="0" y="0"/>
            <ns1:chExt cx="4052983" cy="37450"/>
          </ns1:xfrm>
        </ns0:grpSpPr>
        <ns0:sp>
          <ns0:nvSpPr>
            <ns0:cNvPr name="Freeform 4" id="4"/>
            <ns0:cNvSpPr/>
            <ns0:nvPr/>
          </ns0:nvSpPr>
          <ns0:spPr>
            <ns1:xfrm flipH="false" flipV="false" rot="0">
              <ns1:off x="0" y="0"/>
              <ns1:ext cx="4052983" cy="37450"/>
            </ns1:xfrm>
            <ns1:custGeom>
              <ns1:avLst/>
              <ns1:gdLst/>
              <ns1:ahLst/>
              <ns1:cxnLst/>
              <ns1:rect r="r" b="b" t="t" l="l"/>
              <ns1:pathLst>
                <ns1:path h="37450" w="4052983">
                  <ns1:moveTo>
                    <ns1:pt x="0" y="0"/>
                  </ns1:moveTo>
                  <ns1:lnTo>
                    <ns1:pt x="4052983" y="0"/>
                  </ns1:lnTo>
                  <ns1:lnTo>
                    <ns1:pt x="4052983" y="37450"/>
                  </ns1:lnTo>
                  <ns1:lnTo>
                    <ns1:pt x="0" y="37450"/>
                  </ns1:lnTo>
                  <ns1:close/>
                </ns1:path>
              </ns1:pathLst>
            </ns1:custGeom>
            <ns1:gradFill rotWithShape="true">
              <ns1:gsLst>
                <ns1:gs pos="0">
                  <ns1:srgbClr val="FFC4E1">
                    <ns1:alpha val="0"/>
                  </ns1:srgbClr>
                </ns1:gs>
                <ns1:gs pos="25000">
                  <ns1:srgbClr val="C4FBFF">
                    <ns1:alpha val="100000"/>
                  </ns1:srgbClr>
                </ns1:gs>
                <ns1:gs pos="50000">
                  <ns1:srgbClr val="DAFCFF">
                    <ns1:alpha val="100000"/>
                  </ns1:srgbClr>
                </ns1:gs>
                <ns1:gs pos="75000">
                  <ns1:srgbClr val="C4FBFF">
                    <ns1:alpha val="60000"/>
                  </ns1:srgbClr>
                </ns1:gs>
                <ns1:gs pos="100000">
                  <ns1:srgbClr val="FFC4E1">
                    <ns1:alpha val="0"/>
                  </ns1:srgbClr>
                </ns1:gs>
              </ns1:gsLst>
              <ns1:lin ang="0"/>
            </ns1:gradFill>
          </ns0:spPr>
        </ns0:sp>
        <ns0:sp>
          <ns0:nvSpPr>
            <ns0:cNvPr name="TextBox 5" id="5"/>
            <ns0:cNvSpPr txBox="true"/>
            <ns0:nvPr/>
          </ns0:nvSpPr>
          <ns0:spPr>
            <ns1:xfrm>
              <ns1:off x="0" y="-38100"/>
              <ns1:ext cx="4052983" cy="7555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6" id="6"/>
          <ns0:cNvSpPr/>
          <ns0:nvPr/>
        </ns0:nvSpPr>
        <ns0:spPr>
          <ns1:xfrm flipH="false" flipV="false" rot="0">
            <ns1:off x="633296" y="575308"/>
            <ns1:ext cx="2131575" cy="1004833"/>
          </ns1:xfrm>
          <ns1:custGeom>
            <ns1:avLst/>
            <ns1:gdLst/>
            <ns1:ahLst/>
            <ns1:cxnLst/>
            <ns1:rect r="r" b="b" t="t" l="l"/>
            <ns1:pathLst>
              <ns1:path h="1004833" w="2131575">
                <ns1:moveTo>
                  <ns1:pt x="0" y="0"/>
                </ns1:moveTo>
                <ns1:lnTo>
                  <ns1:pt x="2131575" y="0"/>
                </ns1:lnTo>
                <ns1:lnTo>
                  <ns1:pt x="2131575" y="1004833"/>
                </ns1:lnTo>
                <ns1:lnTo>
                  <ns1:pt x="0" y="100483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0">
            <ns1:off x="15978666" y="-269126"/>
            <ns1:ext cx="2475692" cy="2475692"/>
          </ns1:xfrm>
          <ns1:custGeom>
            <ns1:avLst/>
            <ns1:gdLst/>
            <ns1:ahLst/>
            <ns1:cxnLst/>
            <ns1:rect r="r" b="b" t="t" l="l"/>
            <ns1:pathLst>
              <ns1:path h="2475692" w="2475692">
                <ns1:moveTo>
                  <ns1:pt x="0" y="0"/>
                </ns1:moveTo>
                <ns1:lnTo>
                  <ns1:pt x="2475692" y="0"/>
                </ns1:lnTo>
                <ns1:lnTo>
                  <ns1:pt x="2475692" y="2475692"/>
                </ns1:lnTo>
                <ns1:lnTo>
                  <ns1:pt x="0" y="247569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/>
            <ns1:stretch>
              <ns1:fillRect l="0" t="0" r="0" b="0"/>
            </ns1:stretch>
          </ns1:blipFill>
        </ns0:spPr>
      </ns0:sp>
      <ns0:sp>
        <ns0:nvSpPr>
          <ns0:cNvPr name="TextBox 8" id="8"/>
          <ns0:cNvSpPr txBox="true"/>
          <ns0:nvPr/>
        </ns0:nvSpPr>
        <ns0:spPr>
          <ns1:xfrm rot="0">
            <ns1:off x="4173024" y="365758"/>
            <ns1:ext cx="10395942" cy="111633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9059"/>
              </ns1:lnSpc>
              <ns1:spcBef>
                <ns1:spcPct val="0"/>
              </ns1:spcBef>
            </ns1:pPr>
            <ns1:r>
              <ns1:rPr lang="en-US" b="true" sz="5999" spc="-215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 xml:space="preserve">HACK MATRIX HACKATHON </ns1:t>
            </ns1:r>
          </ns1:p>
        </ns0:txBody>
      </ns0:sp>
      <ns0:sp>
        <ns0:nvSpPr>
          <ns0:cNvPr name="TextBox 9" id="9"/>
          <ns0:cNvSpPr txBox="true"/>
          <ns0:nvPr/>
        </ns0:nvSpPr>
        <ns0:spPr>
          <ns1:xfrm rot="0">
            <ns1:off x="7363982" y="1687516"/>
            <ns1:ext cx="3301157" cy="86665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6945"/>
              </ns1:lnSpc>
              <ns1:spcBef>
                <ns1:spcPct val="0"/>
              </ns1:spcBef>
            </ns1:pPr>
            <ns1:r>
              <ns1:rPr lang="en-US" b="true" sz="4599" spc="-165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/>
            </ns1:r>
          </ns1:p>
        </ns0:txBody>
      </ns0:sp>
      <ns0:sp>
        <ns0:nvSpPr>
          <ns0:cNvPr name="TextBox 10" id="10"/>
          <ns0:cNvSpPr txBox="true"/>
          <ns0:nvPr/>
        </ns0:nvSpPr>
        <ns0:spPr>
          <ns1:xfrm rot="0">
            <ns1:off x="485956" y="4114800"/>
            <ns1:ext cx="8686800" cy="13716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690874" indent="-345437" lvl="1">
              <ns1:lnSpc>
                <ns1:spcPts val="4831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800" spc="-115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PROJECT TITLE : ErrorBuddy — AI Debug Companion</ns1:t>
            </ns1:r>
          </ns1:p>
        </ns0:txBody>
      </ns0:sp>
      <ns0:sp>
        <ns0:nvSpPr>
          <ns0:cNvPr name="TextBox 11" id="11"/>
          <ns0:cNvSpPr txBox="true"/>
          <ns0:nvPr/>
        </ns0:nvSpPr>
        <ns0:spPr>
          <ns1:xfrm rot="0">
            <ns1:off x="476505" y="5760720"/>
            <ns1:ext cx="8686800" cy="13716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690874" indent="-345437" lvl="1">
              <ns1:lnSpc>
                <ns1:spcPts val="4831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800" spc="-115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TEAM NAME : HackMatrix 2026 | VIT Bhopal | 2nd April 2026</ns1:t>
            </ns1:r>
          </ns1:p>
        </ns0:txBody>
      </ns0:sp>
      <ns0:sp>
        <ns0:nvSpPr>
          <ns0:cNvPr name="TextBox 12" id="12"/>
          <ns0:cNvSpPr txBox="true"/>
          <ns0:nvPr/>
        </ns0:nvSpPr>
        <ns0:spPr>
          <ns1:xfrm rot="0">
            <ns1:off x="485956" y="7406640"/>
            <ns1:ext cx="8686800" cy="13716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690874" indent="-345437" lvl="1">
              <ns1:lnSpc>
                <ns1:spcPts val="4831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800" spc="-115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TEAM MEMBERS : Khushi  •  Jash  •  and team</ns1:t>
            </ns1:r>
          </ns1:p>
        </ns0:txBody>
      </ns0:sp>
      <ns0:pic>
        <ns0:nvPicPr>
          <ns0:cNvPr id="201" name="ErrorBuddy_Icon_1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1430000" y="2743200"/>
            <ns1:ext cx="5486400" cy="50292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6741" y="525462"/>
            <a:ext cx="6614517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8781" y="219456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Error messages are cryptic, overwhelming and demotivating for freshers learning DSA, ML and full-stack dev.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8781" y="475488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Affected: Thousands of VIT Bhopal students — unresolved errors kill coding confidence and increase learning dropout rates.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201" y="731520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Without instant visual help, beginners spend 30+ minutes on a single error — ErrorBuddy solves it in 30 seconds.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755661"/>
            <a:ext cx="16230600" cy="149974"/>
            <a:chOff x="0" y="0"/>
            <a:chExt cx="4052983" cy="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296" y="575308"/>
            <a:ext cx="2131575" cy="1004833"/>
          </a:xfrm>
          <a:custGeom>
            <a:avLst/>
            <a:gdLst/>
            <a:ahLst/>
            <a:cxnLst/>
            <a:rect r="r" b="b" t="t" l="l"/>
            <a:pathLst>
              <a:path h="1004833" w="2131575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78666" y="-269126"/>
            <a:ext cx="2475692" cy="2475692"/>
          </a:xfrm>
          <a:custGeom>
            <a:avLst/>
            <a:gdLst/>
            <a:ahLst/>
            <a:cxnLst/>
            <a:rect r="r" b="b" t="t" l="l"/>
            <a:pathLst>
              <a:path h="2475692" w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id="202" name="ErrorBuddy_Icon_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286000"/>
            <a:ext cx="6400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9709" y="525462"/>
            <a:ext cx="9308753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1872" y="219456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tools: Stack Overflow, ChatGPT, compiler docs — give generic answers with no visual intuition or beginner-friendly fixes.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0922" y="475488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Limitations: No auto-corrected code, no live simulations, context-free responses — students still spend hours stuck on one error.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0922" y="731520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 we fill: Instant plain-English explanation + auto-fixed code + live DSA/ML visuals.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1872" y="1656550"/>
            <a:ext cx="16230600" cy="149974"/>
            <a:chOff x="0" y="0"/>
            <a:chExt cx="4052983" cy="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296" y="575308"/>
            <a:ext cx="2131575" cy="1004833"/>
          </a:xfrm>
          <a:custGeom>
            <a:avLst/>
            <a:gdLst/>
            <a:ahLst/>
            <a:cxnLst/>
            <a:rect r="r" b="b" t="t" l="l"/>
            <a:pathLst>
              <a:path h="1004833" w="2131575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78666" y="-269126"/>
            <a:ext cx="2475692" cy="2475692"/>
          </a:xfrm>
          <a:custGeom>
            <a:avLst/>
            <a:gdLst/>
            <a:ahLst/>
            <a:cxnLst/>
            <a:rect r="r" b="b" t="t" l="l"/>
            <a:pathLst>
              <a:path h="2475692" w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id="203" name="ErrorBuddy_Icon_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2286000"/>
            <a:ext cx="6858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13000" y="525462"/>
            <a:ext cx="6320879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PROPOSED  SOLUTION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0042" y="219456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Paste code + error → Gemini returns plain-English explanation + corrected code + visual simulation.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0042" y="475488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Features: Gemini AI fix  |  Live DSA/ML animations  |  Flutter desktop codebase scanner.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120" y="731520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Transforms 30-minute debugging nightmares into 30-second “Aha!” moments — turning confused coders into confident VIT developers.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613071"/>
            <a:ext cx="16230600" cy="149974"/>
            <a:chOff x="0" y="0"/>
            <a:chExt cx="4052983" cy="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296" y="575308"/>
            <a:ext cx="2131575" cy="1004833"/>
          </a:xfrm>
          <a:custGeom>
            <a:avLst/>
            <a:gdLst/>
            <a:ahLst/>
            <a:cxnLst/>
            <a:rect r="r" b="b" t="t" l="l"/>
            <a:pathLst>
              <a:path h="1004833" w="2131575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78666" y="-269126"/>
            <a:ext cx="2475692" cy="2475692"/>
          </a:xfrm>
          <a:custGeom>
            <a:avLst/>
            <a:gdLst/>
            <a:ahLst/>
            <a:cxnLst/>
            <a:rect r="r" b="b" t="t" l="l"/>
            <a:pathLst>
              <a:path h="2475692" w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id="204" name="ErrorBuddy_Icon_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286000"/>
            <a:ext cx="6400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2232" y="396022"/>
            <a:ext cx="7099399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 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6972" y="219456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React.js Frontend → Node.js API → Gemini 1.5 Flash LLM → Viz Layer →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6898" y="475488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Components: React UI, Node.js API, Gemini LLM, Flutter Desktop App, LocalStorage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6898" y="731520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Flow: Code + error → Node.js → Gemini → fix + explanation → React live visual simulation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76631" y="1549207"/>
            <a:ext cx="16230600" cy="149974"/>
            <a:chOff x="0" y="0"/>
            <a:chExt cx="4052983" cy="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296" y="575308"/>
            <a:ext cx="2131575" cy="1004833"/>
          </a:xfrm>
          <a:custGeom>
            <a:avLst/>
            <a:gdLst/>
            <a:ahLst/>
            <a:cxnLst/>
            <a:rect r="r" b="b" t="t" l="l"/>
            <a:pathLst>
              <a:path h="1004833" w="2131575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78666" y="-269126"/>
            <a:ext cx="2475692" cy="2475692"/>
          </a:xfrm>
          <a:custGeom>
            <a:avLst/>
            <a:gdLst/>
            <a:ahLst/>
            <a:cxnLst/>
            <a:rect r="r" b="b" t="t" l="l"/>
            <a:pathLst>
              <a:path h="2475692" w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id="205" name="ErrorBuddy_Icon_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2011680"/>
            <a:ext cx="59436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54672" y="396022"/>
            <a:ext cx="10896416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FLOWCHART  /  WORKING PROCESS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1303" y="219456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 Paste code + error into React web app OR open project folder in Flutter desktop app.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78" y="475488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2: Click Explain &amp; Fix → Gemini returns explanation + corrected code + sim type.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303" y="7315200"/>
            <a:ext cx="86868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3: React renders live DSA/ML simulation. Error saved to History Dashboard.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87580" y="1549207"/>
            <a:ext cx="16230600" cy="149974"/>
            <a:chOff x="0" y="0"/>
            <a:chExt cx="4052983" cy="37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2983" cy="37450"/>
            </a:xfrm>
            <a:custGeom>
              <a:avLst/>
              <a:gdLst/>
              <a:ahLst/>
              <a:cxnLst/>
              <a:rect r="r" b="b" t="t" l="l"/>
              <a:pathLst>
                <a:path h="37450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296" y="575308"/>
            <a:ext cx="2131575" cy="1004833"/>
          </a:xfrm>
          <a:custGeom>
            <a:avLst/>
            <a:gdLst/>
            <a:ahLst/>
            <a:cxnLst/>
            <a:rect r="r" b="b" t="t" l="l"/>
            <a:pathLst>
              <a:path h="1004833" w="2131575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7241" y="-269126"/>
            <a:ext cx="2475692" cy="2475692"/>
          </a:xfrm>
          <a:custGeom>
            <a:avLst/>
            <a:gdLst/>
            <a:ahLst/>
            <a:cxnLst/>
            <a:rect r="r" b="b" t="t" l="l"/>
            <a:pathLst>
              <a:path h="2475692" w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id="206" name="ErrorBuddy_Icon_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743200"/>
            <a:ext cx="640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0" y="0"/>
            <ns1:ext cx="18288000" cy="10287000"/>
          </ns1:xfrm>
          <ns1:custGeom>
            <ns1:avLst/>
            <ns1:gdLst/>
            <ns1:ahLst/>
            <ns1:cxnLst/>
            <ns1:rect r="r" b="b" t="t" l="l"/>
            <ns1:pathLst>
              <ns1:path h="10287000" w="18288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-9313" r="0" b="-9313"/>
            </ns1:stretch>
          </ns1:blipFill>
        </ns0:spPr>
      </ns0:sp>
      <ns0:sp>
        <ns0:nvSpPr>
          <ns0:cNvPr name="TextBox 3" id="3"/>
          <ns0:cNvSpPr txBox="true"/>
          <ns0:nvPr/>
        </ns0:nvSpPr>
        <ns0:spPr>
          <ns1:xfrm rot="0">
            <ns1:off x="7294513" y="377531"/>
            <ns1:ext cx="3698974" cy="88265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6999"/>
              </ns1:lnSpc>
              <ns1:spcBef>
                <ns1:spcPct val="0"/>
              </ns1:spcBef>
            </ns1:pPr>
            <ns1:r>
              <ns1:rPr lang="en-US" b="true" sz="2400" spc="-399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TECH  STACK</ns1:t>
            </ns1:r>
          </ns1:p>
        </ns0:txBody>
      </ns0:sp>
      <ns0:sp>
        <ns0:nvSpPr>
          <ns0:cNvPr name="TextBox 4" id="4"/>
          <ns0:cNvSpPr txBox="true"/>
          <ns0:nvPr/>
        </ns0:nvSpPr>
        <ns0:spPr>
          <ns1:xfrm rot="0">
            <ns1:off x="1125156" y="201168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4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Frontend: React.js + Tailwind CSS — fast, component-driven UI with live code editor and real-time visual simulation rendering.</ns1:t>
            </ns1:r>
          </ns1:p>
        </ns0:txBody>
      </ns0:sp>
      <ns0:sp>
        <ns0:nvSpPr>
          <ns0:cNvPr name="TextBox 5" id="5"/>
          <ns0:cNvSpPr txBox="true"/>
          <ns0:nvPr/>
        </ns0:nvSpPr>
        <ns0:spPr>
          <ns1:xfrm rot="0">
            <ns1:off x="1125231" y="393192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4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Backend: Node.js + Express — lightweight REST API, handles prompt engineering and Gemini API integration with low latency.</ns1:t>
            </ns1:r>
          </ns1:p>
        </ns0:txBody>
      </ns0:sp>
      <ns0:sp>
        <ns0:nvSpPr>
          <ns0:cNvPr name="TextBox 6" id="6"/>
          <ns0:cNvSpPr txBox="true"/>
          <ns0:nvPr/>
        </ns0:nvSpPr>
        <ns0:spPr>
          <ns1:xfrm rot="0">
            <ns1:off x="1125156" y="585216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4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Storage: LocalStorage (web) + local file system (Flutter) — fully offline-capable, zero deployment cost, instant access to error history.</ns1:t>
            </ns1:r>
          </ns1:p>
        </ns0:txBody>
      </ns0:sp>
      <ns0:sp>
        <ns0:nvSpPr>
          <ns0:cNvPr name="TextBox 7" id="7"/>
          <ns0:cNvSpPr txBox="true"/>
          <ns0:nvPr/>
        </ns0:nvSpPr>
        <ns0:spPr>
          <ns1:xfrm rot="0">
            <ns1:off x="1125156" y="777240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4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AI + Desktop: Gemini 1.5 Flash (LLM) + Flutter (desktop codebase scanner &amp; auto-patcher).</ns1:t>
            </ns1:r>
          </ns1:p>
        </ns0:txBody>
      </ns0:sp>
      <ns0:grpSp>
        <ns0:nvGrpSpPr>
          <ns0:cNvPr name="Group 8" id="8"/>
          <ns0:cNvGrpSpPr/>
          <ns0:nvPr/>
        </ns0:nvGrpSpPr>
        <ns0:grpSpPr>
          <ns1:xfrm rot="0">
            <ns1:off x="1028700" y="1406083"/>
            <ns1:ext cx="16230600" cy="149974"/>
            <ns1:chOff x="0" y="0"/>
            <ns1:chExt cx="4052983" cy="3745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4052983" cy="37450"/>
            </ns1:xfrm>
            <ns1:custGeom>
              <ns1:avLst/>
              <ns1:gdLst/>
              <ns1:ahLst/>
              <ns1:cxnLst/>
              <ns1:rect r="r" b="b" t="t" l="l"/>
              <ns1:pathLst>
                <ns1:path h="37450" w="4052983">
                  <ns1:moveTo>
                    <ns1:pt x="0" y="0"/>
                  </ns1:moveTo>
                  <ns1:lnTo>
                    <ns1:pt x="4052983" y="0"/>
                  </ns1:lnTo>
                  <ns1:lnTo>
                    <ns1:pt x="4052983" y="37450"/>
                  </ns1:lnTo>
                  <ns1:lnTo>
                    <ns1:pt x="0" y="37450"/>
                  </ns1:lnTo>
                  <ns1:close/>
                </ns1:path>
              </ns1:pathLst>
            </ns1:custGeom>
            <ns1:gradFill rotWithShape="true">
              <ns1:gsLst>
                <ns1:gs pos="0">
                  <ns1:srgbClr val="FFC4E1">
                    <ns1:alpha val="0"/>
                  </ns1:srgbClr>
                </ns1:gs>
                <ns1:gs pos="25000">
                  <ns1:srgbClr val="C4FBFF">
                    <ns1:alpha val="100000"/>
                  </ns1:srgbClr>
                </ns1:gs>
                <ns1:gs pos="50000">
                  <ns1:srgbClr val="DAFCFF">
                    <ns1:alpha val="100000"/>
                  </ns1:srgbClr>
                </ns1:gs>
                <ns1:gs pos="75000">
                  <ns1:srgbClr val="C4FBFF">
                    <ns1:alpha val="60000"/>
                  </ns1:srgbClr>
                </ns1:gs>
                <ns1:gs pos="100000">
                  <ns1:srgbClr val="FFC4E1">
                    <ns1:alpha val="0"/>
                  </ns1:srgbClr>
                </ns1:gs>
              </ns1:gsLst>
              <ns1:lin ang="0"/>
            </ns1:gra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0" y="-38100"/>
              <ns1:ext cx="4052983" cy="7555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1" id="11"/>
          <ns0:cNvSpPr/>
          <ns0:nvPr/>
        </ns0:nvSpPr>
        <ns0:spPr>
          <ns1:xfrm flipH="false" flipV="false" rot="0">
            <ns1:off x="633296" y="575308"/>
            <ns1:ext cx="2131575" cy="1004833"/>
          </ns1:xfrm>
          <ns1:custGeom>
            <ns1:avLst/>
            <ns1:gdLst/>
            <ns1:ahLst/>
            <ns1:cxnLst/>
            <ns1:rect r="r" b="b" t="t" l="l"/>
            <ns1:pathLst>
              <ns1:path h="1004833" w="2131575">
                <ns1:moveTo>
                  <ns1:pt x="0" y="0"/>
                </ns1:moveTo>
                <ns1:lnTo>
                  <ns1:pt x="2131575" y="0"/>
                </ns1:lnTo>
                <ns1:lnTo>
                  <ns1:pt x="2131575" y="1004833"/>
                </ns1:lnTo>
                <ns1:lnTo>
                  <ns1:pt x="0" y="100483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15978666" y="-269126"/>
            <ns1:ext cx="2475692" cy="2475692"/>
          </ns1:xfrm>
          <ns1:custGeom>
            <ns1:avLst/>
            <ns1:gdLst/>
            <ns1:ahLst/>
            <ns1:cxnLst/>
            <ns1:rect r="r" b="b" t="t" l="l"/>
            <ns1:pathLst>
              <ns1:path h="2475692" w="2475692">
                <ns1:moveTo>
                  <ns1:pt x="0" y="0"/>
                </ns1:moveTo>
                <ns1:lnTo>
                  <ns1:pt x="2475692" y="0"/>
                </ns1:lnTo>
                <ns1:lnTo>
                  <ns1:pt x="2475692" y="2475692"/>
                </ns1:lnTo>
                <ns1:lnTo>
                  <ns1:pt x="0" y="247569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/>
            <ns1:stretch>
              <ns1:fillRect l="0" t="0" r="0" b="0"/>
            </ns1:stretch>
          </ns1:blipFill>
        </ns0:spPr>
      </ns0:sp>
      <ns0:pic>
        <ns0:nvPicPr>
          <ns0:cNvPr id="207" name="ErrorBuddy_Icon_7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0515600" y="2286000"/>
            <ns1:ext cx="6400800" cy="59436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0" y="0"/>
            <ns1:ext cx="18288000" cy="10287000"/>
          </ns1:xfrm>
          <ns1:custGeom>
            <ns1:avLst/>
            <ns1:gdLst/>
            <ns1:ahLst/>
            <ns1:cxnLst/>
            <ns1:rect r="r" b="b" t="t" l="l"/>
            <ns1:pathLst>
              <ns1:path h="10287000" w="18288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-9313" r="0" b="-9313"/>
            </ns1:stretch>
          </ns1:blipFill>
        </ns0:spPr>
      </ns0:sp>
      <ns0:sp>
        <ns0:nvSpPr>
          <ns0:cNvPr name="TextBox 3" id="3"/>
          <ns0:cNvSpPr txBox="true"/>
          <ns0:nvPr/>
        </ns0:nvSpPr>
        <ns0:spPr>
          <ns1:xfrm rot="0">
            <ns1:off x="5730032" y="376633"/>
            <ns1:ext cx="7004000" cy="89217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7000"/>
              </ns1:lnSpc>
              <ns1:spcBef>
                <ns1:spcPct val="0"/>
              </ns1:spcBef>
            </ns1:pPr>
            <ns1:r>
              <ns1:rPr lang="en-US" b="true" sz="2600" spc="-400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IMPLEMENTATION  PLAN</ns1:t>
            </ns1:r>
          </ns1:p>
        </ns0:txBody>
      </ns0:sp>
      <ns0:sp>
        <ns0:nvSpPr>
          <ns0:cNvPr name="TextBox 4" id="4"/>
          <ns0:cNvSpPr txBox="true"/>
          <ns0:nvPr/>
        </ns0:nvSpPr>
        <ns0:spPr>
          <ns1:xfrm rot="0">
            <ns1:off x="1016274" y="219456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9" indent="-367030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Roadmap: React UI → Gemini API → DSA/ML simulations → Flutter codebase scanner (40% done).</ns1:t>
            </ns1:r>
          </ns1:p>
        </ns0:txBody>
      </ns0:sp>
      <ns0:sp>
        <ns0:nvSpPr>
          <ns0:cNvPr name="TextBox 5" id="5"/>
          <ns0:cNvSpPr txBox="true"/>
          <ns0:nvPr/>
        </ns0:nvSpPr>
        <ns0:spPr>
          <ns1:xfrm rot="0">
            <ns1:off x="1016199" y="475488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9" indent="-367030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Modules: Input Interface | Gemini Engine | Viz Renderer | History Dashboard | Flutter App</ns1:t>
            </ns1:r>
          </ns1:p>
        </ns0:txBody>
      </ns0:sp>
      <ns0:sp>
        <ns0:nvSpPr>
          <ns0:cNvPr name="TextBox 6" id="6"/>
          <ns0:cNvSpPr txBox="true"/>
          <ns0:nvPr/>
        </ns0:nvSpPr>
        <ns0:spPr>
          <ns1:xfrm rot="0">
            <ns1:off x="1016199" y="731520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9" indent="-367030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Timeline: Core web prototype (40% complete) → Gemini integration today → Flutter desktop app + visual animations → Full polished prototype ready for offline round tomorrow.</ns1:t>
            </ns1:r>
          </ns1:p>
        </ns0:txBody>
      </ns0:sp>
      <ns0:grpSp>
        <ns0:nvGrpSpPr>
          <ns0:cNvPr name="Group 7" id="7"/>
          <ns0:cNvGrpSpPr/>
          <ns0:nvPr/>
        </ns0:nvGrpSpPr>
        <ns0:grpSpPr>
          <ns1:xfrm rot="0">
            <ns1:off x="1116733" y="1459754"/>
            <ns1:ext cx="16230600" cy="149974"/>
            <ns1:chOff x="0" y="0"/>
            <ns1:chExt cx="4052983" cy="3745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4052983" cy="37450"/>
            </ns1:xfrm>
            <ns1:custGeom>
              <ns1:avLst/>
              <ns1:gdLst/>
              <ns1:ahLst/>
              <ns1:cxnLst/>
              <ns1:rect r="r" b="b" t="t" l="l"/>
              <ns1:pathLst>
                <ns1:path h="37450" w="4052983">
                  <ns1:moveTo>
                    <ns1:pt x="0" y="0"/>
                  </ns1:moveTo>
                  <ns1:lnTo>
                    <ns1:pt x="4052983" y="0"/>
                  </ns1:lnTo>
                  <ns1:lnTo>
                    <ns1:pt x="4052983" y="37450"/>
                  </ns1:lnTo>
                  <ns1:lnTo>
                    <ns1:pt x="0" y="37450"/>
                  </ns1:lnTo>
                  <ns1:close/>
                </ns1:path>
              </ns1:pathLst>
            </ns1:custGeom>
            <ns1:gradFill rotWithShape="true">
              <ns1:gsLst>
                <ns1:gs pos="0">
                  <ns1:srgbClr val="FFC4E1">
                    <ns1:alpha val="0"/>
                  </ns1:srgbClr>
                </ns1:gs>
                <ns1:gs pos="25000">
                  <ns1:srgbClr val="C4FBFF">
                    <ns1:alpha val="100000"/>
                  </ns1:srgbClr>
                </ns1:gs>
                <ns1:gs pos="50000">
                  <ns1:srgbClr val="DAFCFF">
                    <ns1:alpha val="100000"/>
                  </ns1:srgbClr>
                </ns1:gs>
                <ns1:gs pos="75000">
                  <ns1:srgbClr val="C4FBFF">
                    <ns1:alpha val="60000"/>
                  </ns1:srgbClr>
                </ns1:gs>
                <ns1:gs pos="100000">
                  <ns1:srgbClr val="FFC4E1">
                    <ns1:alpha val="0"/>
                  </ns1:srgbClr>
                </ns1:gs>
              </ns1:gsLst>
              <ns1:lin ang="0"/>
            </ns1:grad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-38100"/>
              <ns1:ext cx="4052983" cy="7555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0" id="10"/>
          <ns0:cNvSpPr/>
          <ns0:nvPr/>
        </ns0:nvSpPr>
        <ns0:spPr>
          <ns1:xfrm flipH="false" flipV="false" rot="0">
            <ns1:off x="633296" y="575308"/>
            <ns1:ext cx="2131575" cy="1004833"/>
          </ns1:xfrm>
          <ns1:custGeom>
            <ns1:avLst/>
            <ns1:gdLst/>
            <ns1:ahLst/>
            <ns1:cxnLst/>
            <ns1:rect r="r" b="b" t="t" l="l"/>
            <ns1:pathLst>
              <ns1:path h="1004833" w="2131575">
                <ns1:moveTo>
                  <ns1:pt x="0" y="0"/>
                </ns1:moveTo>
                <ns1:lnTo>
                  <ns1:pt x="2131575" y="0"/>
                </ns1:lnTo>
                <ns1:lnTo>
                  <ns1:pt x="2131575" y="1004833"/>
                </ns1:lnTo>
                <ns1:lnTo>
                  <ns1:pt x="0" y="100483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0">
            <ns1:off x="15978666" y="-269126"/>
            <ns1:ext cx="2475692" cy="2475692"/>
          </ns1:xfrm>
          <ns1:custGeom>
            <ns1:avLst/>
            <ns1:gdLst/>
            <ns1:ahLst/>
            <ns1:cxnLst/>
            <ns1:rect r="r" b="b" t="t" l="l"/>
            <ns1:pathLst>
              <ns1:path h="2475692" w="2475692">
                <ns1:moveTo>
                  <ns1:pt x="0" y="0"/>
                </ns1:moveTo>
                <ns1:lnTo>
                  <ns1:pt x="2475692" y="0"/>
                </ns1:lnTo>
                <ns1:lnTo>
                  <ns1:pt x="2475692" y="2475692"/>
                </ns1:lnTo>
                <ns1:lnTo>
                  <ns1:pt x="0" y="247569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/>
            <ns1:stretch>
              <ns1:fillRect l="0" t="0" r="0" b="0"/>
            </ns1:stretch>
          </ns1:blipFill>
        </ns0:spPr>
      </ns0:sp>
      <ns0:pic>
        <ns0:nvPicPr>
          <ns0:cNvPr id="208" name="ErrorBuddy_Icon_8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0515600" y="2743200"/>
            <ns1:ext cx="6400800" cy="50292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0" y="0"/>
            <ns1:ext cx="18288000" cy="10287000"/>
          </ns1:xfrm>
          <ns1:custGeom>
            <ns1:avLst/>
            <ns1:gdLst/>
            <ns1:ahLst/>
            <ns1:cxnLst/>
            <ns1:rect r="r" b="b" t="t" l="l"/>
            <ns1:pathLst>
              <ns1:path h="10287000" w="18288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-9313" r="0" b="-9313"/>
            </ns1:stretch>
          </ns1:blipFill>
        </ns0:spPr>
      </ns0:sp>
      <ns0:sp>
        <ns0:nvSpPr>
          <ns0:cNvPr name="TextBox 3" id="3"/>
          <ns0:cNvSpPr txBox="true"/>
          <ns0:nvPr/>
        </ns0:nvSpPr>
        <ns0:spPr>
          <ns1:xfrm rot="0">
            <ns1:off x="4896553" y="377591"/>
            <ns1:ext cx="8827740" cy="89217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7000"/>
              </ns1:lnSpc>
              <ns1:spcBef>
                <ns1:spcPct val="0"/>
              </ns1:spcBef>
            </ns1:pPr>
            <ns1:r>
              <ns1:rPr lang="en-US" b="true" sz="2600" spc="-400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EXPECTED OUTCOME  / IMPACT</ns1:t>
            </ns1:r>
          </ns1:p>
        </ns0:txBody>
      </ns0:sp>
      <ns0:sp>
        <ns0:nvSpPr>
          <ns0:cNvPr name="TextBox 4" id="4"/>
          <ns0:cNvSpPr txBox="true"/>
          <ns0:nvPr/>
        </ns0:nvSpPr>
        <ns0:spPr>
          <ns1:xfrm rot="0">
            <ns1:off x="901378" y="219456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Working prototype delivers: Instant plain-English explanation + auto-corrected code + interactive visual simulation — all within 30 seconds of pasting an error.</ns1:t>
            </ns1:r>
          </ns1:p>
        </ns0:txBody>
      </ns0:sp>
      <ns0:sp>
        <ns0:nvSpPr>
          <ns0:cNvPr name="TextBox 5" id="5"/>
          <ns0:cNvSpPr txBox="true"/>
          <ns0:nvPr/>
        </ns0:nvSpPr>
        <ns0:spPr>
          <ns1:xfrm rot="0">
            <ns1:off x="891778" y="475488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User Benefits: Debug 5x faster. Understand WHY errors happen. Build real confidence.</ns1:t>
            </ns1:r>
          </ns1:p>
        </ns0:txBody>
      </ns0:sp>
      <ns0:sp>
        <ns0:nvSpPr>
          <ns0:cNvPr name="TextBox 6" id="6"/>
          <ns0:cNvSpPr txBox="true"/>
          <ns0:nvPr/>
        </ns0:nvSpPr>
        <ns0:spPr>
          <ns1:xfrm rot="0">
            <ns1:off x="901303" y="731520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Real-World Impact: Empowers every VIT Bhopal student — reducing learning friction, accelerating placement readiness, and making coding accessible to all.</ns1:t>
            </ns1:r>
          </ns1:p>
        </ns0:txBody>
      </ns0:sp>
      <ns0:grpSp>
        <ns0:nvGrpSpPr>
          <ns0:cNvPr name="Group 7" id="7"/>
          <ns0:cNvGrpSpPr/>
          <ns0:nvPr/>
        </ns0:nvGrpSpPr>
        <ns0:grpSpPr>
          <ns1:xfrm rot="0">
            <ns1:off x="1565415" y="1441864"/>
            <ns1:ext cx="16230600" cy="149974"/>
            <ns1:chOff x="0" y="0"/>
            <ns1:chExt cx="4052983" cy="3745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4052983" cy="37450"/>
            </ns1:xfrm>
            <ns1:custGeom>
              <ns1:avLst/>
              <ns1:gdLst/>
              <ns1:ahLst/>
              <ns1:cxnLst/>
              <ns1:rect r="r" b="b" t="t" l="l"/>
              <ns1:pathLst>
                <ns1:path h="37450" w="4052983">
                  <ns1:moveTo>
                    <ns1:pt x="0" y="0"/>
                  </ns1:moveTo>
                  <ns1:lnTo>
                    <ns1:pt x="4052983" y="0"/>
                  </ns1:lnTo>
                  <ns1:lnTo>
                    <ns1:pt x="4052983" y="37450"/>
                  </ns1:lnTo>
                  <ns1:lnTo>
                    <ns1:pt x="0" y="37450"/>
                  </ns1:lnTo>
                  <ns1:close/>
                </ns1:path>
              </ns1:pathLst>
            </ns1:custGeom>
            <ns1:gradFill rotWithShape="true">
              <ns1:gsLst>
                <ns1:gs pos="0">
                  <ns1:srgbClr val="FFC4E1">
                    <ns1:alpha val="0"/>
                  </ns1:srgbClr>
                </ns1:gs>
                <ns1:gs pos="25000">
                  <ns1:srgbClr val="C4FBFF">
                    <ns1:alpha val="100000"/>
                  </ns1:srgbClr>
                </ns1:gs>
                <ns1:gs pos="50000">
                  <ns1:srgbClr val="DAFCFF">
                    <ns1:alpha val="100000"/>
                  </ns1:srgbClr>
                </ns1:gs>
                <ns1:gs pos="75000">
                  <ns1:srgbClr val="C4FBFF">
                    <ns1:alpha val="60000"/>
                  </ns1:srgbClr>
                </ns1:gs>
                <ns1:gs pos="100000">
                  <ns1:srgbClr val="FFC4E1">
                    <ns1:alpha val="0"/>
                  </ns1:srgbClr>
                </ns1:gs>
              </ns1:gsLst>
              <ns1:lin ang="0"/>
            </ns1:grad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-38100"/>
              <ns1:ext cx="4052983" cy="7555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0" id="10"/>
          <ns0:cNvSpPr/>
          <ns0:nvPr/>
        </ns0:nvSpPr>
        <ns0:spPr>
          <ns1:xfrm flipH="false" flipV="false" rot="0">
            <ns1:off x="633296" y="575308"/>
            <ns1:ext cx="2131575" cy="1004833"/>
          </ns1:xfrm>
          <ns1:custGeom>
            <ns1:avLst/>
            <ns1:gdLst/>
            <ns1:ahLst/>
            <ns1:cxnLst/>
            <ns1:rect r="r" b="b" t="t" l="l"/>
            <ns1:pathLst>
              <ns1:path h="1004833" w="2131575">
                <ns1:moveTo>
                  <ns1:pt x="0" y="0"/>
                </ns1:moveTo>
                <ns1:lnTo>
                  <ns1:pt x="2131575" y="0"/>
                </ns1:lnTo>
                <ns1:lnTo>
                  <ns1:pt x="2131575" y="1004833"/>
                </ns1:lnTo>
                <ns1:lnTo>
                  <ns1:pt x="0" y="100483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0">
            <ns1:off x="15978666" y="-269126"/>
            <ns1:ext cx="2475692" cy="2475692"/>
          </ns1:xfrm>
          <ns1:custGeom>
            <ns1:avLst/>
            <ns1:gdLst/>
            <ns1:ahLst/>
            <ns1:cxnLst/>
            <ns1:rect r="r" b="b" t="t" l="l"/>
            <ns1:pathLst>
              <ns1:path h="2475692" w="2475692">
                <ns1:moveTo>
                  <ns1:pt x="0" y="0"/>
                </ns1:moveTo>
                <ns1:lnTo>
                  <ns1:pt x="2475692" y="0"/>
                </ns1:lnTo>
                <ns1:lnTo>
                  <ns1:pt x="2475692" y="2475692"/>
                </ns1:lnTo>
                <ns1:lnTo>
                  <ns1:pt x="0" y="247569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/>
            <ns1:stretch>
              <ns1:fillRect l="0" t="0" r="0" b="0"/>
            </ns1:stretch>
          </ns1:blipFill>
        </ns0:spPr>
      </ns0:sp>
      <ns0:pic>
        <ns0:nvPicPr>
          <ns0:cNvPr id="209" name="ErrorBuddy_Icon_9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0515600" y="2286000"/>
            <ns1:ext cx="6400800" cy="59436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0" y="0"/>
            <ns1:ext cx="18288000" cy="10287000"/>
          </ns1:xfrm>
          <ns1:custGeom>
            <ns1:avLst/>
            <ns1:gdLst/>
            <ns1:ahLst/>
            <ns1:cxnLst/>
            <ns1:rect r="r" b="b" t="t" l="l"/>
            <ns1:pathLst>
              <ns1:path h="10287000" w="18288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-9313" r="0" b="-9313"/>
            </ns1:stretch>
          </ns1:blipFill>
        </ns0:spPr>
      </ns0:sp>
      <ns0:sp>
        <ns0:nvSpPr>
          <ns0:cNvPr name="TextBox 3" id="3"/>
          <ns0:cNvSpPr txBox="true"/>
          <ns0:nvPr/>
        </ns0:nvSpPr>
        <ns0:spPr>
          <ns1:xfrm rot="0">
            <ns1:off x="4503647" y="331023"/>
            <ns1:ext cx="9836646" cy="89217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7000"/>
              </ns1:lnSpc>
              <ns1:spcBef>
                <ns1:spcPct val="0"/>
              </ns1:spcBef>
            </ns1:pPr>
            <ns1:r>
              <ns1:rPr lang="en-US" b="true" sz="2600" spc="-400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FUTURE  SCOPE  AND  CONCLUSION</ns1:t>
            </ns1:r>
          </ns1:p>
        </ns0:txBody>
      </ns0:sp>
      <ns0:sp>
        <ns0:nvSpPr>
          <ns0:cNvPr name="TextBox 4" id="4"/>
          <ns0:cNvSpPr txBox="true"/>
          <ns0:nvPr/>
        </ns0:nvSpPr>
        <ns0:spPr>
          <ns1:xfrm rot="0">
            <ns1:off x="901378" y="219456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Future: Ollama offline LLM | DSA/ML sim library | VIT Coding Lab plugin | AI pair-programmer</ns1:t>
            </ns1:r>
          </ns1:p>
        </ns0:txBody>
      </ns0:sp>
      <ns0:sp>
        <ns0:nvSpPr>
          <ns0:cNvPr name="TextBox 5" id="5"/>
          <ns0:cNvSpPr txBox="true"/>
          <ns0:nvPr/>
        </ns0:nvSpPr>
        <ns0:spPr>
          <ns1:xfrm rot="0">
            <ns1:off x="901303" y="475488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Scalability: ErrorBuddy can evolve into the go-to debugging companion for all Indian engineering students — deployable as a campus-wide SaaS platform.</ns1:t>
            </ns1:r>
          </ns1:p>
        </ns0:txBody>
      </ns0:sp>
      <ns0:sp>
        <ns0:nvSpPr>
          <ns0:cNvPr name="TextBox 6" id="6"/>
          <ns0:cNvSpPr txBox="true"/>
          <ns0:nvPr/>
        </ns0:nvSpPr>
        <ns0:spPr>
          <ns1:xfrm rot="0">
            <ns1:off x="901303" y="7315200"/>
            <ns1:ext cx="8686800" cy="18288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734056" indent="-367028" lvl="1">
              <ns1:lnSpc>
                <ns1:spcPts val="4759"/>
              </ns1:lnSpc>
              <ns1:spcBef>
                <ns1:spcPct val="0"/>
              </ns1:spcBef>
              <ns1:buFont typeface="Arial"/>
              <ns1:buChar char="•"/>
            </ns1:pPr>
            <ns1:r>
              <ns1:rPr lang="en-US" b="true" sz="2600" spc="-271">
                <ns1:solidFill>
                  <ns1:srgbClr val="FFFFFF"/>
                </ns1:solidFill>
                <ns1:latin typeface="Times New Roman Bold"/>
                <ns1:ea typeface="Times New Roman Bold"/>
                <ns1:cs typeface="Times New Roman Bold"/>
                <ns1:sym typeface="Times New Roman Bold"/>
              </ns1:rPr>
              <ns1:t>Conclusion: ErrorBuddy doesn’t just fix errors — it transforms confused coders into confident developers. “Making coding accessible, one error at a time.”  |  Team: Khushi  |  Jash</ns1:t>
            </ns1:r>
          </ns1:p>
        </ns0:txBody>
      </ns0:sp>
      <ns0:grpSp>
        <ns0:nvGrpSpPr>
          <ns0:cNvPr name="Group 7" id="7"/>
          <ns0:cNvGrpSpPr/>
          <ns0:nvPr/>
        </ns0:nvGrpSpPr>
        <ns0:grpSpPr>
          <ns1:xfrm rot="0">
            <ns1:off x="1136043" y="1423973"/>
            <ns1:ext cx="16230600" cy="149974"/>
            <ns1:chOff x="0" y="0"/>
            <ns1:chExt cx="4052983" cy="37450"/>
          </ns1:xfrm>
        </ns0:grpSpPr>
        <ns0:sp>
          <ns0:nvSpPr>
            <ns0:cNvPr name="Freeform 8" id="8"/>
            <ns0:cNvSpPr/>
            <ns0:nvPr/>
          </ns0:nvSpPr>
          <ns0:spPr>
            <ns1:xfrm flipH="false" flipV="false" rot="0">
              <ns1:off x="0" y="0"/>
              <ns1:ext cx="4052983" cy="37450"/>
            </ns1:xfrm>
            <ns1:custGeom>
              <ns1:avLst/>
              <ns1:gdLst/>
              <ns1:ahLst/>
              <ns1:cxnLst/>
              <ns1:rect r="r" b="b" t="t" l="l"/>
              <ns1:pathLst>
                <ns1:path h="37450" w="4052983">
                  <ns1:moveTo>
                    <ns1:pt x="0" y="0"/>
                  </ns1:moveTo>
                  <ns1:lnTo>
                    <ns1:pt x="4052983" y="0"/>
                  </ns1:lnTo>
                  <ns1:lnTo>
                    <ns1:pt x="4052983" y="37450"/>
                  </ns1:lnTo>
                  <ns1:lnTo>
                    <ns1:pt x="0" y="37450"/>
                  </ns1:lnTo>
                  <ns1:close/>
                </ns1:path>
              </ns1:pathLst>
            </ns1:custGeom>
            <ns1:gradFill rotWithShape="true">
              <ns1:gsLst>
                <ns1:gs pos="0">
                  <ns1:srgbClr val="FFC4E1">
                    <ns1:alpha val="0"/>
                  </ns1:srgbClr>
                </ns1:gs>
                <ns1:gs pos="25000">
                  <ns1:srgbClr val="C4FBFF">
                    <ns1:alpha val="100000"/>
                  </ns1:srgbClr>
                </ns1:gs>
                <ns1:gs pos="50000">
                  <ns1:srgbClr val="DAFCFF">
                    <ns1:alpha val="100000"/>
                  </ns1:srgbClr>
                </ns1:gs>
                <ns1:gs pos="75000">
                  <ns1:srgbClr val="C4FBFF">
                    <ns1:alpha val="60000"/>
                  </ns1:srgbClr>
                </ns1:gs>
                <ns1:gs pos="100000">
                  <ns1:srgbClr val="FFC4E1">
                    <ns1:alpha val="0"/>
                  </ns1:srgbClr>
                </ns1:gs>
              </ns1:gsLst>
              <ns1:lin ang="0"/>
            </ns1:gradFill>
          </ns0:spPr>
        </ns0:sp>
        <ns0:sp>
          <ns0:nvSpPr>
            <ns0:cNvPr name="TextBox 9" id="9"/>
            <ns0:cNvSpPr txBox="true"/>
            <ns0:nvPr/>
          </ns0:nvSpPr>
          <ns0:spPr>
            <ns1:xfrm>
              <ns1:off x="0" y="-38100"/>
              <ns1:ext cx="4052983" cy="7555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0" id="10"/>
          <ns0:cNvSpPr/>
          <ns0:nvPr/>
        </ns0:nvSpPr>
        <ns0:spPr>
          <ns1:xfrm flipH="false" flipV="false" rot="0">
            <ns1:off x="633296" y="575308"/>
            <ns1:ext cx="2131575" cy="1004833"/>
          </ns1:xfrm>
          <ns1:custGeom>
            <ns1:avLst/>
            <ns1:gdLst/>
            <ns1:ahLst/>
            <ns1:cxnLst/>
            <ns1:rect r="r" b="b" t="t" l="l"/>
            <ns1:pathLst>
              <ns1:path h="1004833" w="2131575">
                <ns1:moveTo>
                  <ns1:pt x="0" y="0"/>
                </ns1:moveTo>
                <ns1:lnTo>
                  <ns1:pt x="2131575" y="0"/>
                </ns1:lnTo>
                <ns1:lnTo>
                  <ns1:pt x="2131575" y="1004833"/>
                </ns1:lnTo>
                <ns1:lnTo>
                  <ns1:pt x="0" y="100483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/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0">
            <ns1:off x="15978666" y="-269126"/>
            <ns1:ext cx="2475692" cy="2475692"/>
          </ns1:xfrm>
          <ns1:custGeom>
            <ns1:avLst/>
            <ns1:gdLst/>
            <ns1:ahLst/>
            <ns1:cxnLst/>
            <ns1:rect r="r" b="b" t="t" l="l"/>
            <ns1:pathLst>
              <ns1:path h="2475692" w="2475692">
                <ns1:moveTo>
                  <ns1:pt x="0" y="0"/>
                </ns1:moveTo>
                <ns1:lnTo>
                  <ns1:pt x="2475692" y="0"/>
                </ns1:lnTo>
                <ns1:lnTo>
                  <ns1:pt x="2475692" y="2475692"/>
                </ns1:lnTo>
                <ns1:lnTo>
                  <ns1:pt x="0" y="247569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/>
            <ns1:stretch>
              <ns1:fillRect l="0" t="0" r="0" b="0"/>
            </ns1:stretch>
          </ns1:blipFill>
        </ns0:spPr>
      </ns0:sp>
      <ns0:pic>
        <ns0:nvPicPr>
          <ns0:cNvPr id="210" name="ErrorBuddy_Icon_10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10515600" y="2286000"/>
            <ns1:ext cx="6400800" cy="59436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